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8e869bec6f4139" /><Relationship Type="http://schemas.openxmlformats.org/officeDocument/2006/relationships/extended-properties" Target="/docProps/app.xml" Id="Rf9e602db4b2a4c25" /><Relationship Type="http://schemas.openxmlformats.org/officeDocument/2006/relationships/officeDocument" Target="/ppt/presentation.xml" Id="R6117e440d11545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7e4449cb1948d1"/>
  </p:sldMasterIdLst>
  <p:notesMasterIdLst>
    <p:notesMasterId xmlns:r="http://schemas.openxmlformats.org/officeDocument/2006/relationships" r:id="Ra4e370a8ef1d4eb2"/>
  </p:notesMasterIdLst>
  <p:sldIdLst>
    <p:sldId xmlns:r="http://schemas.openxmlformats.org/officeDocument/2006/relationships" id="256" r:id="Rbba34c886f084c06"/>
    <p:sldId xmlns:r="http://schemas.openxmlformats.org/officeDocument/2006/relationships" id="257" r:id="Red2cc99216754f0b"/>
    <p:sldId xmlns:r="http://schemas.openxmlformats.org/officeDocument/2006/relationships" id="258" r:id="R4ba2cd7e8e844af9"/>
    <p:sldId xmlns:r="http://schemas.openxmlformats.org/officeDocument/2006/relationships" id="259" r:id="Rd3b90c7057e3417e"/>
    <p:sldId xmlns:r="http://schemas.openxmlformats.org/officeDocument/2006/relationships" id="260" r:id="R5f1da0f1f1f0454c"/>
    <p:sldId xmlns:r="http://schemas.openxmlformats.org/officeDocument/2006/relationships" id="261" r:id="R862568371a294271"/>
    <p:sldId xmlns:r="http://schemas.openxmlformats.org/officeDocument/2006/relationships" id="262" r:id="Rc99024e2004b4a47"/>
    <p:sldId xmlns:r="http://schemas.openxmlformats.org/officeDocument/2006/relationships" id="263" r:id="R4a3fad6f180341a9"/>
    <p:sldId xmlns:r="http://schemas.openxmlformats.org/officeDocument/2006/relationships" id="264" r:id="Rd95d4f060c3743ae"/>
    <p:sldId xmlns:r="http://schemas.openxmlformats.org/officeDocument/2006/relationships" id="265" r:id="Rb352b571d2d54fa0"/>
    <p:sldId xmlns:r="http://schemas.openxmlformats.org/officeDocument/2006/relationships" id="266" r:id="Rb72b3808287b4c83"/>
    <p:sldId xmlns:r="http://schemas.openxmlformats.org/officeDocument/2006/relationships" id="267" r:id="Re6cf9e1fd09f4180"/>
    <p:sldId xmlns:r="http://schemas.openxmlformats.org/officeDocument/2006/relationships" id="268" r:id="Rfb7675cf28474225"/>
    <p:sldId xmlns:r="http://schemas.openxmlformats.org/officeDocument/2006/relationships" id="269" r:id="R516e72f5462b4e14"/>
    <p:sldId xmlns:r="http://schemas.openxmlformats.org/officeDocument/2006/relationships" id="270" r:id="R8f0e2d0c0a1a4477"/>
    <p:sldId xmlns:r="http://schemas.openxmlformats.org/officeDocument/2006/relationships" id="271" r:id="R5159fb4183b84dff"/>
    <p:sldId xmlns:r="http://schemas.openxmlformats.org/officeDocument/2006/relationships" id="272" r:id="R859f8610602e48b7"/>
    <p:sldId xmlns:r="http://schemas.openxmlformats.org/officeDocument/2006/relationships" id="273" r:id="Ra7e550e965124267"/>
    <p:sldId xmlns:r="http://schemas.openxmlformats.org/officeDocument/2006/relationships" id="274" r:id="R4143921e1a7b46bf"/>
    <p:sldId xmlns:r="http://schemas.openxmlformats.org/officeDocument/2006/relationships" id="275" r:id="Re962b373bb7247ef"/>
    <p:sldId xmlns:r="http://schemas.openxmlformats.org/officeDocument/2006/relationships" id="276" r:id="R300f060d0f4d416c"/>
    <p:sldId xmlns:r="http://schemas.openxmlformats.org/officeDocument/2006/relationships" id="277" r:id="R8ef732960a2342fd"/>
    <p:sldId xmlns:r="http://schemas.openxmlformats.org/officeDocument/2006/relationships" id="278" r:id="Re52a290fcd034172"/>
    <p:sldId xmlns:r="http://schemas.openxmlformats.org/officeDocument/2006/relationships" id="279" r:id="Rfb7b52e097d649a5"/>
    <p:sldId xmlns:r="http://schemas.openxmlformats.org/officeDocument/2006/relationships" id="280" r:id="R9e9d601d2c824a4d"/>
    <p:sldId xmlns:r="http://schemas.openxmlformats.org/officeDocument/2006/relationships" id="281" r:id="Rf0cdfad3dc9847df"/>
    <p:sldId xmlns:r="http://schemas.openxmlformats.org/officeDocument/2006/relationships" id="282" r:id="Rd5f412d145bf47e5"/>
    <p:sldId xmlns:r="http://schemas.openxmlformats.org/officeDocument/2006/relationships" id="283" r:id="R6793f8184acd4883"/>
    <p:sldId xmlns:r="http://schemas.openxmlformats.org/officeDocument/2006/relationships" id="284" r:id="Rd0a1122149b742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cfec733f714882" /><Relationship Type="http://schemas.openxmlformats.org/officeDocument/2006/relationships/slideMaster" Target="/ppt/slideMasters/slideMaster1.xml" Id="R1c7e4449cb1948d1" /><Relationship Type="http://schemas.openxmlformats.org/officeDocument/2006/relationships/notesMaster" Target="/ppt/notesMasters/notesMaster1.xml" Id="Ra4e370a8ef1d4eb2" /><Relationship Type="http://schemas.openxmlformats.org/officeDocument/2006/relationships/presProps" Target="/ppt/presProps.xml" Id="R7c91c676b72c4326" /><Relationship Type="http://schemas.openxmlformats.org/officeDocument/2006/relationships/viewProps" Target="/ppt/viewProps.xml" Id="Rf1ed320cf61b4616" /><Relationship Type="http://schemas.openxmlformats.org/officeDocument/2006/relationships/tableStyles" Target="/ppt/tableStyles.xml" Id="R7bf6320654d94c69" /><Relationship Type="http://schemas.openxmlformats.org/officeDocument/2006/relationships/slide" Target="/ppt/slides/slide1.xml" Id="Rbba34c886f084c06" /><Relationship Type="http://schemas.openxmlformats.org/officeDocument/2006/relationships/slide" Target="/ppt/slides/slide2.xml" Id="Red2cc99216754f0b" /><Relationship Type="http://schemas.openxmlformats.org/officeDocument/2006/relationships/slide" Target="/ppt/slides/slide3.xml" Id="R4ba2cd7e8e844af9" /><Relationship Type="http://schemas.openxmlformats.org/officeDocument/2006/relationships/slide" Target="/ppt/slides/slide4.xml" Id="Rd3b90c7057e3417e" /><Relationship Type="http://schemas.openxmlformats.org/officeDocument/2006/relationships/slide" Target="/ppt/slides/slide5.xml" Id="R5f1da0f1f1f0454c" /><Relationship Type="http://schemas.openxmlformats.org/officeDocument/2006/relationships/slide" Target="/ppt/slides/slide6.xml" Id="R862568371a294271" /><Relationship Type="http://schemas.openxmlformats.org/officeDocument/2006/relationships/slide" Target="/ppt/slides/slide7.xml" Id="Rc99024e2004b4a47" /><Relationship Type="http://schemas.openxmlformats.org/officeDocument/2006/relationships/slide" Target="/ppt/slides/slide8.xml" Id="R4a3fad6f180341a9" /><Relationship Type="http://schemas.openxmlformats.org/officeDocument/2006/relationships/slide" Target="/ppt/slides/slide9.xml" Id="Rd95d4f060c3743ae" /><Relationship Type="http://schemas.openxmlformats.org/officeDocument/2006/relationships/slide" Target="/ppt/slides/slide10.xml" Id="Rb352b571d2d54fa0" /><Relationship Type="http://schemas.openxmlformats.org/officeDocument/2006/relationships/slide" Target="/ppt/slides/slide11.xml" Id="Rb72b3808287b4c83" /><Relationship Type="http://schemas.openxmlformats.org/officeDocument/2006/relationships/slide" Target="/ppt/slides/slide12.xml" Id="Re6cf9e1fd09f4180" /><Relationship Type="http://schemas.openxmlformats.org/officeDocument/2006/relationships/slide" Target="/ppt/slides/slide13.xml" Id="Rfb7675cf28474225" /><Relationship Type="http://schemas.openxmlformats.org/officeDocument/2006/relationships/slide" Target="/ppt/slides/slide14.xml" Id="R516e72f5462b4e14" /><Relationship Type="http://schemas.openxmlformats.org/officeDocument/2006/relationships/slide" Target="/ppt/slides/slide15.xml" Id="R8f0e2d0c0a1a4477" /><Relationship Type="http://schemas.openxmlformats.org/officeDocument/2006/relationships/slide" Target="/ppt/slides/slide16.xml" Id="R5159fb4183b84dff" /><Relationship Type="http://schemas.openxmlformats.org/officeDocument/2006/relationships/slide" Target="/ppt/slides/slide17.xml" Id="R859f8610602e48b7" /><Relationship Type="http://schemas.openxmlformats.org/officeDocument/2006/relationships/slide" Target="/ppt/slides/slide18.xml" Id="Ra7e550e965124267" /><Relationship Type="http://schemas.openxmlformats.org/officeDocument/2006/relationships/slide" Target="/ppt/slides/slide19.xml" Id="R4143921e1a7b46bf" /><Relationship Type="http://schemas.openxmlformats.org/officeDocument/2006/relationships/slide" Target="/ppt/slides/slide20.xml" Id="Re962b373bb7247ef" /><Relationship Type="http://schemas.openxmlformats.org/officeDocument/2006/relationships/slide" Target="/ppt/slides/slide21.xml" Id="R300f060d0f4d416c" /><Relationship Type="http://schemas.openxmlformats.org/officeDocument/2006/relationships/slide" Target="/ppt/slides/slide22.xml" Id="R8ef732960a2342fd" /><Relationship Type="http://schemas.openxmlformats.org/officeDocument/2006/relationships/slide" Target="/ppt/slides/slide23.xml" Id="Re52a290fcd034172" /><Relationship Type="http://schemas.openxmlformats.org/officeDocument/2006/relationships/slide" Target="/ppt/slides/slide24.xml" Id="Rfb7b52e097d649a5" /><Relationship Type="http://schemas.openxmlformats.org/officeDocument/2006/relationships/slide" Target="/ppt/slides/slide25.xml" Id="R9e9d601d2c824a4d" /><Relationship Type="http://schemas.openxmlformats.org/officeDocument/2006/relationships/slide" Target="/ppt/slides/slide26.xml" Id="Rf0cdfad3dc9847df" /><Relationship Type="http://schemas.openxmlformats.org/officeDocument/2006/relationships/slide" Target="/ppt/slides/slide27.xml" Id="Rd5f412d145bf47e5" /><Relationship Type="http://schemas.openxmlformats.org/officeDocument/2006/relationships/slide" Target="/ppt/slides/slide28.xml" Id="R6793f8184acd4883" /><Relationship Type="http://schemas.openxmlformats.org/officeDocument/2006/relationships/slide" Target="/ppt/slides/slide29.xml" Id="Rd0a1122149b742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93dc8a6a2b46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2F4F7"/>
      </a:lt2>
      <a:accent1>
        <a:srgbClr val="004986"/>
      </a:accent1>
      <a:accent2>
        <a:srgbClr val="0B3668"/>
      </a:accent2>
      <a:accent3>
        <a:srgbClr val="F2F4F7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9443611a034f3f" /><Relationship Type="http://schemas.openxmlformats.org/officeDocument/2006/relationships/notesMaster" Target="/ppt/notesMasters/notesMaster1.xml" Id="R021b20d5028b43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45bbf51d474b68" /><Relationship Type="http://schemas.openxmlformats.org/officeDocument/2006/relationships/notesMaster" Target="/ppt/notesMasters/notesMaster1.xml" Id="Rb2ee29bf823147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67eac2388e4779" /><Relationship Type="http://schemas.openxmlformats.org/officeDocument/2006/relationships/notesMaster" Target="/ppt/notesMasters/notesMaster1.xml" Id="R3cebc24fca944a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6b04cedb914ae2" /><Relationship Type="http://schemas.openxmlformats.org/officeDocument/2006/relationships/notesMaster" Target="/ppt/notesMasters/notesMaster1.xml" Id="R4b887496c58447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19e412fb2e4d77" /><Relationship Type="http://schemas.openxmlformats.org/officeDocument/2006/relationships/notesMaster" Target="/ppt/notesMasters/notesMaster1.xml" Id="R8d2e4ac5fe3648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f9b3b192544250" /><Relationship Type="http://schemas.openxmlformats.org/officeDocument/2006/relationships/notesMaster" Target="/ppt/notesMasters/notesMaster1.xml" Id="R88bdb34708fe46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6ffdc1dffe4689" /><Relationship Type="http://schemas.openxmlformats.org/officeDocument/2006/relationships/notesMaster" Target="/ppt/notesMasters/notesMaster1.xml" Id="R6699be13a19345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a32679e1064b5f" /><Relationship Type="http://schemas.openxmlformats.org/officeDocument/2006/relationships/notesMaster" Target="/ppt/notesMasters/notesMaster1.xml" Id="Ra42a5c5e502546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71cb3000e5457a" /><Relationship Type="http://schemas.openxmlformats.org/officeDocument/2006/relationships/notesMaster" Target="/ppt/notesMasters/notesMaster1.xml" Id="R8a1fee55488f47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c4b5160efd4ae7" /><Relationship Type="http://schemas.openxmlformats.org/officeDocument/2006/relationships/notesMaster" Target="/ppt/notesMasters/notesMaster1.xml" Id="R5c3dcbd8c6ef40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3f1e3ff8924332" /><Relationship Type="http://schemas.openxmlformats.org/officeDocument/2006/relationships/notesMaster" Target="/ppt/notesMasters/notesMaster1.xml" Id="Rd488ac8af86e4e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aac4ed7b1f4007" /><Relationship Type="http://schemas.openxmlformats.org/officeDocument/2006/relationships/notesMaster" Target="/ppt/notesMasters/notesMaster1.xml" Id="R8b45cc29a5f74b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1b976b97bd47ec" /><Relationship Type="http://schemas.openxmlformats.org/officeDocument/2006/relationships/notesMaster" Target="/ppt/notesMasters/notesMaster1.xml" Id="R7013dd86c4bf43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a71cc898c0415d" /><Relationship Type="http://schemas.openxmlformats.org/officeDocument/2006/relationships/notesMaster" Target="/ppt/notesMasters/notesMaster1.xml" Id="Rc3b3c7d978a04e6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654b6dff36412b" /><Relationship Type="http://schemas.openxmlformats.org/officeDocument/2006/relationships/notesMaster" Target="/ppt/notesMasters/notesMaster1.xml" Id="Rf93b79eb312c42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53abb9f5dd4f33" /><Relationship Type="http://schemas.openxmlformats.org/officeDocument/2006/relationships/notesMaster" Target="/ppt/notesMasters/notesMaster1.xml" Id="R78513abd5cb74f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7078f503054b90" /><Relationship Type="http://schemas.openxmlformats.org/officeDocument/2006/relationships/notesMaster" Target="/ppt/notesMasters/notesMaster1.xml" Id="R5c9ae428302849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ef21630dba640bc" /><Relationship Type="http://schemas.openxmlformats.org/officeDocument/2006/relationships/notesMaster" Target="/ppt/notesMasters/notesMaster1.xml" Id="R9ba61932606a4c4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be1a1d98884e5e" /><Relationship Type="http://schemas.openxmlformats.org/officeDocument/2006/relationships/notesMaster" Target="/ppt/notesMasters/notesMaster1.xml" Id="Rbb37416fbf784d9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625920eeaf74c6f" /><Relationship Type="http://schemas.openxmlformats.org/officeDocument/2006/relationships/notesMaster" Target="/ppt/notesMasters/notesMaster1.xml" Id="Recdade393e1d43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2d845f757844fa5" /><Relationship Type="http://schemas.openxmlformats.org/officeDocument/2006/relationships/notesMaster" Target="/ppt/notesMasters/notesMaster1.xml" Id="R0e8bbd89c36b4ca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dfa807335794772" /><Relationship Type="http://schemas.openxmlformats.org/officeDocument/2006/relationships/notesMaster" Target="/ppt/notesMasters/notesMaster1.xml" Id="Rc36dec1c63c943a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c88f82119c14855" /><Relationship Type="http://schemas.openxmlformats.org/officeDocument/2006/relationships/notesMaster" Target="/ppt/notesMasters/notesMaster1.xml" Id="Rbdca3cbe857c4c7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3a1acc10abf417c" /><Relationship Type="http://schemas.openxmlformats.org/officeDocument/2006/relationships/notesMaster" Target="/ppt/notesMasters/notesMaster1.xml" Id="R6f923fa8ebc5465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33811cc8ff54e19" /><Relationship Type="http://schemas.openxmlformats.org/officeDocument/2006/relationships/notesMaster" Target="/ppt/notesMasters/notesMaster1.xml" Id="Rcc9ded9dd8904d8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66db7e2aaa54487" /><Relationship Type="http://schemas.openxmlformats.org/officeDocument/2006/relationships/notesMaster" Target="/ppt/notesMasters/notesMaster1.xml" Id="Rbd5cff84dad3407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ccea42fd78141ae" /><Relationship Type="http://schemas.openxmlformats.org/officeDocument/2006/relationships/notesMaster" Target="/ppt/notesMasters/notesMaster1.xml" Id="Rd6660e2a6c20483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e78122d25ed43eb" /><Relationship Type="http://schemas.openxmlformats.org/officeDocument/2006/relationships/notesMaster" Target="/ppt/notesMasters/notesMaster1.xml" Id="R7888fcb273874a2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ff404c617fe428a" /><Relationship Type="http://schemas.openxmlformats.org/officeDocument/2006/relationships/notesMaster" Target="/ppt/notesMasters/notesMaster1.xml" Id="Rd40c67c121a04a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Formação prática de 70 a 80 minutos, adaptável ao grupo. Inclui demonstrações no Teams e Word, e introdução ao Copilot no Teams e Outlook. Âmbito principal: tarefas 0007, 0005/0032 e 0011/0012. Exemplos fictícios. As capturas permitem continuar caso uma aplicação não esteja disponível.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Pergunte ao grupo onde procuraria cada informação hoje. Aceite duas ou três respostas, sem fazer uma discussão longa. O objetivo é ligar os procedimentos a um caso de trabalho reconhecível. Não afirmar que o evento está planeado pela AIP.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Distribuição sugerida dos 60 minutos: 5 de enquadramento, 8 de comunicação, 15 de organização e exercício, 20 de impressão em série, 7 de teste e 5 de dúvidas. Ajustar ao ritmo do grupo.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Exemplo: uma pergunta sobre quem revê o programa vai para chat; a versão validada fica ligada à publicação no canal; o convite externo segue por e-mail. Um pedido formal continua a seguir as regras internas. Pedir ao grupo um exemplo que gere dúvida.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Ler o exemplo como uma mensagem única. Explicar que a presença no Teams não garante disponibilidade imediata. Se a revisão conduzir a uma decisão relevante para a equipa, publicar uma síntese no canal.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Demonstração: localizar o ícone de lápis no topo de Chat e a seta ao lado. Abrir Nova mensagem. Apontar o campo Para. Explicar que é necessário confirmar a identidade do colega. Não selecionar um colega durante este ensaio. A captura amplia o menu real.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Guia complementar: 04 e 24. Capturas reais de demonstração obtidas no Teams/Word. Não enviar mensagens nem adicionar pessoas durante o ensaio.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Percorrer a linha superior do esquema e relacionar com o caso fictício. Explicar que este é um esquema ilustrativo gerado para a formação, não uma captura do ambiente AIP. As ligações e atualizações entre aplicações são manuais neste procedimento. A linha inferior prepara o segundo bloco.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Mostrar a equipa criada para a demonstração e o canal Eventos e reuniões. Na organização, verificar primeiro se já existe o espaço adequado. Explicar a diferença entre equipa e canal. Não abrir outros espaços durante o ensaio.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Guia complementar: 06 e 20. Capturas reais de demonstração obtidas no Teams/Word. Não enviar mensagens nem adicionar pessoas durante o ensaio.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Explicar que este é o formulário de criação de uma equipa de raiz. Na rotina normal, usar a equipa existente definida pela organização. Para este ensaio, a equipa privada foi criada sem membros adicionais. A criação está sujeita às permissões da conta.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Guia complementar: 20. Capturas reais de demonstração obtidas no Teams/Word. Não enviar mensagens nem adicionar pessoas durante o ensaio.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Abrir Publicar no canal apenas no espaço de demonstração. Mostrar o assunto e os elementos do corpo. Indicar onde se escreve e onde se publicaria, sem carregar em Publicação. Publicar num canal não cria um convite no calendário.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Guia complementar: 07. Capturas reais de demonstração obtidas no Teams/Word. Não enviar mensagens nem adicionar pessoas durante o ensaio.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imagem mostra Partilha e permissões com uma opção de delegado. Não instruir a atribuir delegação apenas para consultar um calendário. Explicar leitura versus edição. Eventos num calendário secundário podem não bloquear disponibilidade pessoal. Fonte Microsoft S4 e S5. Enviar e atualizar convites apenas durante exercício autorizado.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Partilha com permissões de edição e delegação: https://support.microsoft.com/pt-pt/outlook/sharing/share-and-access-a-calendar-with-edit-or-delegate-permissions-in-outlook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Calendários partilhados no Outlook: https://support.microsoft.com/pt-pt/outlook/sharing/about-shared-mailboxes-shared-folders-and-shared-calendars-in-outlook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Imagem Microsoft: https://support.microsoft.com/pt-pt/outlook/media/sharing-and-permissions.png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Página de origem: https://support.microsoft.com/pt-pt/outlook/sharing/share-and-access-a-calendar-with-edit-or-delegate-permissions-in-outlook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Localizar Planner no menu de aplicações do Teams. Explicar que o plano real deve estar associado ao grupo de trabalho adequado. O plano pessoal serve apenas para ensaio, caso autorizado. Não atribuir ações a terceiros neste ensaio.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Guia complementar: 09. Capturas reais de demonstração obtidas no Teams/Word. Não enviar mensagens nem adicionar pessoas durante o ensaio.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Dar 7 minutos para criar os registos e 3 para a mudança de sala. Verificar calendário, atualização do convite e publicação original. Rever a tarefa se o conteúdo for afetado. Critério: o colega encontra o estado do evento sem explicações por chat. Não usar destinatários externos.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Clarificar que os dois pedidos estão consolidados na memória descritiva. Não prometer um ganho de tempo quantificado nem rastreio de aberturas. Neste módulo, seguir o percurso Word para computador e Outlook clássico em Windows.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Fonte: Microsoft S9, comparação de funcionalidades, indica suporte parcial para impressão em série no novo Outlook. Não afirmar que é totalmente impossível em todas as versões. Demonstrar a conta utilizada num envio interno. Valores em example.com no guia não são destinos de teste reais.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Comparação entre novo Outlook e Outlook clássico: https://support.microsoft.com/en-us/outlook/getstarted/feature-comparison-between-new-outlook-and-classic-outlook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Todos os dados são fictícios. No exercício, substituir o endereço por uma caixa interna autorizada. Verificar vazios e duplicados; não eliminar automaticamente contactos apenas porque partilham um endereço. A coluna DataTexto evita alterações de apresentação da data na demonstração. S10 no guia.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Preparar os dados Excel para impressão em série: https://support.microsoft.com/en-us/word/prepare-your-excel-data-source-for-a-word-mail-merge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 Word, abrir o modelo local. Em Mailings, usar Start Mail Merge e E-mail Messages. Depois selecionar Select Recipients, Use an Existing List e o Excel fictício. Selecionar a folha Destinatarios$ e confirmar a primeira linha como cabeçalho. Fonte S8.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Guia complementar: 13. Capturas reais de demonstração obtidas no Teams/Word. Não enviar mensagens nem adicionar pessoas durante o ensaio.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Mostrar os campos Nome e Empresa entre sinais angulares no modelo. Não escrever manualmente esses sinais como substituto de campos reais. O modelo apresentado está ligado a uma lista fictícia. Fonte S11.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Guia complementar: 14. Capturas reais de demonstração obtidas no Teams/Word. Não enviar mensagens nem adicionar pessoas durante o ensaio.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Mostrar Edit Recipient List. Identificar as caixas de seleção e as opções Filter e Find duplicates. Não usar contactos reais. Endereços example.com são apenas ilustrativos e não servem para confirmar entrega. Fonte S12.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Guia complementar: 12–15. Capturas reais de demonstração obtidas no Teams/Word. Não enviar mensagens nem adicionar pessoas durante o ensaio.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Alternar Preview Results para comparar campos e resultado. Percorrer pelo menos dois registos e incluir casos compridos e campos vazios antes de um envio real. Na demonstração, usar apenas os dois exemplos fictícios. Fonte S8.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Guia complementar: 15. Capturas reais de demonstração obtidas no Teams/Word. Não enviar mensagens nem adicionar pessoas durante o ensaio.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Mostrar o menu e parar. Explicar que o passo seguinte configura o envio e que confirmar a caixa de envio o executa. Durante esta demonstração não enviar para os endereços fictícios. Num teste autorizado, substituir esses endereços por uma caixa de teste controlada. Fonte S8.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Guia complementar: 15–16. Capturas reais de demonstração obtidas no Teams/Word. Não enviar mensagens nem adicionar pessoas durante o ensaio.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 Microsoft S8. Não extrapolar estas limitações para todos os produtos e todas as plataformas. Para assunto variável ou anexos individualizados é necessário um procedimento adicional. Não há relatório fiável de aberturas e cliques neste método.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Enviar mensagens com impressão em série no Word: https://support.microsoft.com/pt-PT/Word/use-mail-merge-in-word-to-send-bulk-email-messages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 o tempo da sessão for limitado, executar como demonstração participada. Critério de sucesso: duas mensagens corretas, cada uma na caixa prevista, da conta confirmada. Não usar a lista real de contactos. Modelo e instruções no guia 11–16.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Usar as FAQ 17 e 18 do guia. Pedir ao participante que identifique a aplicação, o passo e a mensagem de erro. Confirmar se existe envio pendente antes de repetir. Não pedir palavras-passe nem dados desnecessários.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Mostrar a página Copilot Chat no Teams. Explicar que é diferente do painel contextual numa conversa. Para recuperar contexto, quando disponível, abrir Copilot na conversa autorizada e pedir período e fontes. Não adicionar Copilot a grupos nem publicar respostas durante o ensaio. A conta pode não disponibilizar todas as funcionalidades. Fontes S13 e S14.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Guia complementar: 21 e 23. Capturas reais de demonstração obtidas no Teams/Word. Não enviar mensagens nem adicionar pessoas durante o ensaio.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imagem é oficial da Microsoft, não uma captura da conta AIP. Mostrar ou explicar Draft com um convite fictício. Para recuperar uma troca de e-mails, usar Resumir no topo da conversação e verificar as referências. A disponibilidade depende de licença, versão e configuração. Fontes S15, S16 e S17.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Guia complementar: 22–23. Capturas reais de demonstração obtidas no Teams/Word. Não enviar mensagens nem adicionar pessoas durante o ensaio.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Perguntar aos participantes que detalhes confirmariam num convite gerado. Pedir exemplos de um prazo inventado ou de um responsável não mencionado. Relembrar que a revisão editorial complementa a verificação dos campos e da seleção do lote.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Guia complementar: 23. Capturas reais de demonstração obtidas no Teams/Word. Não enviar mensagens nem adicionar pessoas durante o ensaio.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memória descritiva prevê acompanhamento da adesão e feedback ao fim de um mês para comunicação interna. Estas verificações são propostas de formação, sem metas quantitativas inventadas. Registar dificuldades e responsáveis pelas melhorias.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Reservar os minutos finais para dúvidas. Pedir a cada participante que escolha uma rotina e uma situação real em que a vai aplicar. Todas as fontes técnicas e os créditos das imagens constam do guia e das notas dos diapositivos.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7ac962ff9746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ddefab8fca42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20fbedce2849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29fd7b1c14c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05cd09f7343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d9002be57468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bf66ed58944f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9293a522fb40c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3408ae35d40e4" /><Relationship Type="http://schemas.openxmlformats.org/officeDocument/2006/relationships/image" Target="/ppt/media/image.png" Id="Ra330125c40224e5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431239db14618" /><Relationship Type="http://schemas.openxmlformats.org/officeDocument/2006/relationships/image" Target="/ppt/media/image2.png" Id="Raf7bbb3932c7427a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a330125c40224e5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af7bbb3932c7427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17158aef974a47" /><Relationship Type="http://schemas.openxmlformats.org/officeDocument/2006/relationships/slideLayout" Target="/ppt/slideLayouts/slideLayout1.xml" Id="R24ae5a5d7b7a4ffc" /><Relationship Type="http://schemas.openxmlformats.org/officeDocument/2006/relationships/slideLayout" Target="/ppt/slideLayouts/slideLayout2.xml" Id="R650e105dbdc14e14" /><Relationship Type="http://schemas.openxmlformats.org/officeDocument/2006/relationships/slideLayout" Target="/ppt/slideLayouts/slideLayout3.xml" Id="R172cfaee13a845c3" /><Relationship Type="http://schemas.openxmlformats.org/officeDocument/2006/relationships/slideLayout" Target="/ppt/slideLayouts/slideLayout4.xml" Id="R44819821a89041b7" /><Relationship Type="http://schemas.openxmlformats.org/officeDocument/2006/relationships/slideLayout" Target="/ppt/slideLayouts/slideLayout5.xml" Id="R342cb755f0b64ce5" /><Relationship Type="http://schemas.openxmlformats.org/officeDocument/2006/relationships/slideLayout" Target="/ppt/slideLayouts/slideLayout6.xml" Id="R9b703242bafc45f1" /><Relationship Type="http://schemas.openxmlformats.org/officeDocument/2006/relationships/slideLayout" Target="/ppt/slideLayouts/slideLayout7.xml" Id="Rc31b34228aee44fd" /><Relationship Type="http://schemas.openxmlformats.org/officeDocument/2006/relationships/slideLayout" Target="/ppt/slideLayouts/slideLayout8.xml" Id="R873902b8211547e8" /><Relationship Type="http://schemas.openxmlformats.org/officeDocument/2006/relationships/slideLayout" Target="/ppt/slideLayouts/slideLayout9.xml" Id="R99ce99598a7242db" /><Relationship Type="http://schemas.openxmlformats.org/officeDocument/2006/relationships/slideLayout" Target="/ppt/slideLayouts/slideLayout10.xml" Id="Rf1e90a8544994ad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ae5a5d7b7a4ffc"/>
    <p:sldLayoutId xmlns:r="http://schemas.openxmlformats.org/officeDocument/2006/relationships" id="2147483650" r:id="R650e105dbdc14e14"/>
    <p:sldLayoutId xmlns:r="http://schemas.openxmlformats.org/officeDocument/2006/relationships" id="2147483651" r:id="R172cfaee13a845c3"/>
    <p:sldLayoutId xmlns:r="http://schemas.openxmlformats.org/officeDocument/2006/relationships" id="2147483652" r:id="R44819821a89041b7"/>
    <p:sldLayoutId xmlns:r="http://schemas.openxmlformats.org/officeDocument/2006/relationships" id="2147483653" r:id="R342cb755f0b64ce5"/>
    <p:sldLayoutId xmlns:r="http://schemas.openxmlformats.org/officeDocument/2006/relationships" id="2147483654" r:id="R9b703242bafc45f1"/>
    <p:sldLayoutId xmlns:r="http://schemas.openxmlformats.org/officeDocument/2006/relationships" id="2147483655" r:id="Rc31b34228aee44fd"/>
    <p:sldLayoutId xmlns:r="http://schemas.openxmlformats.org/officeDocument/2006/relationships" id="2147483656" r:id="R873902b8211547e8"/>
    <p:sldLayoutId xmlns:r="http://schemas.openxmlformats.org/officeDocument/2006/relationships" id="2147483657" r:id="R99ce99598a7242db"/>
    <p:sldLayoutId xmlns:r="http://schemas.openxmlformats.org/officeDocument/2006/relationships" id="2147483658" r:id="Rf1e90a8544994ad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2F4F7"/>
      </a:lt2>
      <a:accent1>
        <a:srgbClr val="004986"/>
      </a:accent1>
      <a:accent2>
        <a:srgbClr val="0B3668"/>
      </a:accent2>
      <a:accent3>
        <a:srgbClr val="F2F4F7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a5591c72848d1" /><Relationship Type="http://schemas.openxmlformats.org/officeDocument/2006/relationships/notesSlide" Target="/ppt/notesSlides/notesSlide1.xml" Id="Ra19f1d2eb6bd46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0eeab3104f4b09" /><Relationship Type="http://schemas.openxmlformats.org/officeDocument/2006/relationships/notesSlide" Target="/ppt/notesSlides/notesSlide2.xml" Id="R82132537f3ed4a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9f97df94c4411c" /><Relationship Type="http://schemas.openxmlformats.org/officeDocument/2006/relationships/notesSlide" Target="/ppt/notesSlides/notesSlide3.xml" Id="R185b215c054b45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d39f61e6d34769" /><Relationship Type="http://schemas.openxmlformats.org/officeDocument/2006/relationships/notesSlide" Target="/ppt/notesSlides/notesSlide4.xml" Id="R23b62e1351974c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10501a7cab4e64" /><Relationship Type="http://schemas.openxmlformats.org/officeDocument/2006/relationships/notesSlide" Target="/ppt/notesSlides/notesSlide5.xml" Id="R6c4bd0fe0ca043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e580266cb24bb4" /><Relationship Type="http://schemas.openxmlformats.org/officeDocument/2006/relationships/image" Target="/ppt/media/image3.png" Id="Rf7899bad6fb64bb8" /><Relationship Type="http://schemas.openxmlformats.org/officeDocument/2006/relationships/notesSlide" Target="/ppt/notesSlides/notesSlide6.xml" Id="Rf7486d60f7e449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d1b00902334a99" /><Relationship Type="http://schemas.openxmlformats.org/officeDocument/2006/relationships/image" Target="/ppt/media/image4.png" Id="R37d86e2513dd451b" /><Relationship Type="http://schemas.openxmlformats.org/officeDocument/2006/relationships/notesSlide" Target="/ppt/notesSlides/notesSlide7.xml" Id="R0e54437ab8e44d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837d7e23664419" /><Relationship Type="http://schemas.openxmlformats.org/officeDocument/2006/relationships/image" Target="/ppt/media/image5.png" Id="Rc19ce9f37df44dab" /><Relationship Type="http://schemas.openxmlformats.org/officeDocument/2006/relationships/notesSlide" Target="/ppt/notesSlides/notesSlide8.xml" Id="R6a31afa5a4fa46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b496b9a9784e29" /><Relationship Type="http://schemas.openxmlformats.org/officeDocument/2006/relationships/image" Target="/ppt/media/image6.png" Id="Rce997baaf3c94787" /><Relationship Type="http://schemas.openxmlformats.org/officeDocument/2006/relationships/notesSlide" Target="/ppt/notesSlides/notesSlide9.xml" Id="Rbfee996bf54e4d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da4537e2db4e12" /><Relationship Type="http://schemas.openxmlformats.org/officeDocument/2006/relationships/image" Target="/ppt/media/image7.png" Id="R1f50cffc68224977" /><Relationship Type="http://schemas.openxmlformats.org/officeDocument/2006/relationships/notesSlide" Target="/ppt/notesSlides/notesSlide10.xml" Id="R697665433d9d4a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593e4daf924368" /><Relationship Type="http://schemas.openxmlformats.org/officeDocument/2006/relationships/image" Target="/ppt/media/image8.png" Id="R2600c03032e34bfb" /><Relationship Type="http://schemas.openxmlformats.org/officeDocument/2006/relationships/notesSlide" Target="/ppt/notesSlides/notesSlide11.xml" Id="R5b9b36de184145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089c666bc748c4" /><Relationship Type="http://schemas.openxmlformats.org/officeDocument/2006/relationships/image" Target="/ppt/media/image9.png" Id="R6f09cf05378745be" /><Relationship Type="http://schemas.openxmlformats.org/officeDocument/2006/relationships/notesSlide" Target="/ppt/notesSlides/notesSlide12.xml" Id="R36ff93132cf249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caa094a46e4576" /><Relationship Type="http://schemas.openxmlformats.org/officeDocument/2006/relationships/notesSlide" Target="/ppt/notesSlides/notesSlide13.xml" Id="R856e7d9933e242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8d8c6d894e447b" /><Relationship Type="http://schemas.openxmlformats.org/officeDocument/2006/relationships/notesSlide" Target="/ppt/notesSlides/notesSlide14.xml" Id="Ra20eb6b73b104b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7a5c44c409444f" /><Relationship Type="http://schemas.openxmlformats.org/officeDocument/2006/relationships/notesSlide" Target="/ppt/notesSlides/notesSlide15.xml" Id="R2fe9d66b309249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0df80e3ef84d02" /><Relationship Type="http://schemas.openxmlformats.org/officeDocument/2006/relationships/notesSlide" Target="/ppt/notesSlides/notesSlide16.xml" Id="R77df21af2d8f48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94e1df3f024928" /><Relationship Type="http://schemas.openxmlformats.org/officeDocument/2006/relationships/image" Target="/ppt/media/image10.png" Id="R95bb84ac156c4f6f" /><Relationship Type="http://schemas.openxmlformats.org/officeDocument/2006/relationships/notesSlide" Target="/ppt/notesSlides/notesSlide17.xml" Id="Rc5a239fb00584a9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4f1811786040ea" /><Relationship Type="http://schemas.openxmlformats.org/officeDocument/2006/relationships/image" Target="/ppt/media/image11.png" Id="Rbe645745df284057" /><Relationship Type="http://schemas.openxmlformats.org/officeDocument/2006/relationships/notesSlide" Target="/ppt/notesSlides/notesSlide18.xml" Id="Rce9a8f86eb1741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66f6e480034c07" /><Relationship Type="http://schemas.openxmlformats.org/officeDocument/2006/relationships/image" Target="/ppt/media/image12.png" Id="R3b7fe3b9c1cf4849" /><Relationship Type="http://schemas.openxmlformats.org/officeDocument/2006/relationships/notesSlide" Target="/ppt/notesSlides/notesSlide19.xml" Id="R0dbc5edd931b430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e3b685b1cf4e7f" /><Relationship Type="http://schemas.openxmlformats.org/officeDocument/2006/relationships/image" Target="/ppt/media/image13.png" Id="Rde66e78757ff47af" /><Relationship Type="http://schemas.openxmlformats.org/officeDocument/2006/relationships/notesSlide" Target="/ppt/notesSlides/notesSlide20.xml" Id="R540751da73b2477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340004d6814e28" /><Relationship Type="http://schemas.openxmlformats.org/officeDocument/2006/relationships/image" Target="/ppt/media/image14.png" Id="Rb11f17cd915044d7" /><Relationship Type="http://schemas.openxmlformats.org/officeDocument/2006/relationships/notesSlide" Target="/ppt/notesSlides/notesSlide21.xml" Id="R6135afed7ba44e4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533518a6624d89" /><Relationship Type="http://schemas.openxmlformats.org/officeDocument/2006/relationships/notesSlide" Target="/ppt/notesSlides/notesSlide22.xml" Id="Rffaa8cf0d9f44ff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3bc0317f904b1a" /><Relationship Type="http://schemas.openxmlformats.org/officeDocument/2006/relationships/notesSlide" Target="/ppt/notesSlides/notesSlide23.xml" Id="R73295ef0a74845e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97cc718f1647a7" /><Relationship Type="http://schemas.openxmlformats.org/officeDocument/2006/relationships/notesSlide" Target="/ppt/notesSlides/notesSlide24.xml" Id="Rcfbfa0f123f24b8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9f3bbb7b3b4d88" /><Relationship Type="http://schemas.openxmlformats.org/officeDocument/2006/relationships/image" Target="/ppt/media/image15.png" Id="Rb526c7c4e2564a9c" /><Relationship Type="http://schemas.openxmlformats.org/officeDocument/2006/relationships/notesSlide" Target="/ppt/notesSlides/notesSlide25.xml" Id="R4fabd0c173b24e0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761c9f16f04eeb" /><Relationship Type="http://schemas.openxmlformats.org/officeDocument/2006/relationships/image" Target="/ppt/media/image16.png" Id="R81e79f37a5664189" /><Relationship Type="http://schemas.openxmlformats.org/officeDocument/2006/relationships/notesSlide" Target="/ppt/notesSlides/notesSlide26.xml" Id="Rdd2d8eab0420459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0280a0f63d477e" /><Relationship Type="http://schemas.openxmlformats.org/officeDocument/2006/relationships/image" Target="/ppt/media/image17.png" Id="Rab5acebf473c4ad9" /><Relationship Type="http://schemas.openxmlformats.org/officeDocument/2006/relationships/notesSlide" Target="/ppt/notesSlides/notesSlide27.xml" Id="Rffefcdb98be14c4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dbe6f313634b2f" /><Relationship Type="http://schemas.openxmlformats.org/officeDocument/2006/relationships/notesSlide" Target="/ppt/notesSlides/notesSlide28.xml" Id="Radd7ef9d83284fc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4d7a6ee994762" /><Relationship Type="http://schemas.openxmlformats.org/officeDocument/2006/relationships/notesSlide" Target="/ppt/notesSlides/notesSlide29.xml" Id="R3d0134a8bec6452a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4986"/>
            </a:gs>
            <a:gs pos="100000">
              <a:srgbClr val="1F2044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0050" y="2143125"/>
            <a:ext cx="11049000" cy="19050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Comunicação e</a:t>
            </a:r>
          </a:p>
          <a:p xmlns:a="http://schemas.openxmlformats.org/drawingml/2006/main">
            <a:pPr>
              <a:buNone/>
              <a:defRPr sz="4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colaboração na AIP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00050" y="5286375"/>
            <a:ext cx="5429250" cy="7620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Teams, Planner e Outlook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86375"/>
            <a:ext cx="5429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Excel e Word para envios personalizados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9125"/>
            <a:ext cx="3238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Setembro de 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666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AIP  Formação prática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13FBB211-8426-4DE4-ABDE-51418D3E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0D5D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9F8EE3-B14F-4A3E-BA85-0D545C9431F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Quem precisa de saber?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Onde fica o programa?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Quem confirma a sala?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9857A98-A229-4FDE-B9CE-9A56762C0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Um evento para preparar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Como enviamos um convite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personalizado a cada empresa?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Caso fictício: Encontro com empresas, 15 de outubro, às 10h00.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589A57F-4A5B-4B71-934D-783E90BE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01–03</a:t>
            </a:r>
          </a:p>
        </p:txBody>
      </p:sp>
    </p:spTree>
    <p:extLst>
      <p:ext uri="{BB962C8B-B14F-4D97-AF65-F5344CB8AC3E}">
        <p14:creationId xmlns:p14="http://schemas.microsoft.com/office/powerpoint/2010/main" val="1988290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83A32FD-E779-48A4-9D95-6222C4DC62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01  Escolher o meio de comunicação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02  Organizar um evento com a equipa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67B7604-6C17-4104-9385-8E71BD7CB6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percurso da sessão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03  Preparar convites personalizados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04  Experimentar o Copilot e verificar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No final, cada participante consegue repetir um processo completo.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D0B7492-D8D7-4272-A5FE-805D3B31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01</a:t>
            </a:r>
          </a:p>
        </p:txBody>
      </p:sp>
    </p:spTree>
    <p:extLst>
      <p:ext uri="{BB962C8B-B14F-4D97-AF65-F5344CB8AC3E}">
        <p14:creationId xmlns:p14="http://schemas.microsoft.com/office/powerpoint/2010/main" val="20474276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BB93B2B-8E4F-4711-B91F-349CD8E6FA8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CHAT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Esclarecimento breve entre pessoas.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CANAL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Contexto e decisões úteis à equipa.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77D33A5-8FA3-463C-BA63-D9F44E19D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Chat, canal ou e-mail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E-MAIL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Comunicação formal ou externa.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PLANNER E CALENDÁRIO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Ações com prazo e reserva de tempo.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A escolha depende da audiência e da continuidade da informação.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75C80C0-B59D-4CF4-ABF7-2D9706BF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02</a:t>
            </a:r>
          </a:p>
        </p:txBody>
      </p:sp>
    </p:spTree>
    <p:extLst>
      <p:ext uri="{BB962C8B-B14F-4D97-AF65-F5344CB8AC3E}">
        <p14:creationId xmlns:p14="http://schemas.microsoft.com/office/powerpoint/2010/main" val="1263403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53CE57-7F95-4168-A2A6-79143E9579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“Bom dia, Ana. Podes rever o programa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até às 15h de amanhã?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versão a rever está nesta ligação.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Preciso de confirmar os oradores.”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5703F95-525D-446C-89D4-73C7B88926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Uma mensagem que permite agir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resposta fecha o pedido: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“Revisto. Os nomes estão corrigidos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na versão partilhada.”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Tarefas 0011 e 0012. O pedido inclui contexto, ação e prazo.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82C0DB9-F298-446E-B265-D8168347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04–05</a:t>
            </a:r>
          </a:p>
        </p:txBody>
      </p:sp>
    </p:spTree>
    <p:extLst>
      <p:ext uri="{BB962C8B-B14F-4D97-AF65-F5344CB8AC3E}">
        <p14:creationId xmlns:p14="http://schemas.microsoft.com/office/powerpoint/2010/main" val="2087478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75329-69C0-4A6D-ADCE-274BD422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Nova conversa no Teams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BB214-8C7A-4406-B980-64D06ACF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O menu junto a Nova mensagem inicia o percurso.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D5AE0-75E6-4F8D-A3BB-09B2F3C0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05025"/>
            <a:ext cx="4572000" cy="3552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1  Abrir Chat e Nova mensagem.</a:t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2  Confirmar o destinatário antes de escrever.</a:t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Na demonstração, mostrar o campo Para sem selecionar pessoas.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99bad6fb64bb8"/>
          <a:stretch xmlns:a="http://schemas.openxmlformats.org/drawingml/2006/main"/>
        </p:blipFill>
        <p:spPr>
          <a:xfrm xmlns:a="http://schemas.openxmlformats.org/drawingml/2006/main">
            <a:off x="6577435" y="1857375"/>
            <a:ext cx="3875830" cy="4267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156E5-2695-4716-9BE0-3EFEE5EB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real. Exemplo de formação.</a:t>
            </a:r>
          </a:p>
        </p:txBody>
      </p:sp>
    </p:spTree>
    <p:extLst>
      <p:ext uri="{BB962C8B-B14F-4D97-AF65-F5344CB8AC3E}">
        <p14:creationId xmlns:p14="http://schemas.microsoft.com/office/powerpoint/2010/main" val="10890164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514FD81-C91A-4C77-8211-D08EB166FC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Organização de um evento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Tarefa 0007. Cada aplicação mantém uma parte do processo.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pic>
        <p:nvPicPr>
          <p:cNvPr id="5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86e2513dd451b"/>
          <a:stretch xmlns:a="http://schemas.openxmlformats.org/drawingml/2006/main"/>
        </p:blipFill>
        <p:spPr>
          <a:xfrm xmlns:a="http://schemas.openxmlformats.org/drawingml/2006/main">
            <a:off x="2809875" y="2009775"/>
            <a:ext cx="6572250" cy="438150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42733E7-B48B-4653-9974-E035D5E7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03</a:t>
            </a:r>
          </a:p>
        </p:txBody>
      </p:sp>
    </p:spTree>
    <p:extLst>
      <p:ext uri="{BB962C8B-B14F-4D97-AF65-F5344CB8AC3E}">
        <p14:creationId xmlns:p14="http://schemas.microsoft.com/office/powerpoint/2010/main" val="20949379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38CE2-56FF-4C14-8EDF-D4A0FDE9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Um canal para eventos e reuniões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F62B5-EC8C-474B-8D91-F8E99F43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O canal pertence a uma equipa e reúne o contexto do evento.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ce9f37df44dab"/>
          <a:stretch xmlns:a="http://schemas.openxmlformats.org/drawingml/2006/main"/>
        </p:blipFill>
        <p:spPr>
          <a:xfrm xmlns:a="http://schemas.openxmlformats.org/drawingml/2006/main">
            <a:off x="2658119" y="1828800"/>
            <a:ext cx="6875763" cy="3314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4DB7C-3399-4725-8481-C5312889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No canal: Publicações para o contexto. Partilhado para os ficheiros.</a:t>
            </a:r>
          </a:p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exemplo usa a equipa privada AIP — Demonstração de formação.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FE9E9-7649-408A-B109-42FB0D35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real. Exemplo de formação.</a:t>
            </a:r>
          </a:p>
        </p:txBody>
      </p:sp>
    </p:spTree>
    <p:extLst>
      <p:ext uri="{BB962C8B-B14F-4D97-AF65-F5344CB8AC3E}">
        <p14:creationId xmlns:p14="http://schemas.microsoft.com/office/powerpoint/2010/main" val="17690031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07066-A059-4751-A4DA-B180C73D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Criação do espaço de demonstração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F7422-DC3F-4C24-BA3D-48BB9209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Equipa privada, apenas com o proprietário.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1B631-3BD7-47D2-994F-B8003D05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05025"/>
            <a:ext cx="4572000" cy="3552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Nome da equipa</a:t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AIP — Demonstração de formação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Primeiro canal</a:t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Eventos e reuniões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No passo seguinte:</a:t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Ignorar a adição de membros.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97baaf3c94787"/>
          <a:stretch xmlns:a="http://schemas.openxmlformats.org/drawingml/2006/main"/>
        </p:blipFill>
        <p:spPr>
          <a:xfrm xmlns:a="http://schemas.openxmlformats.org/drawingml/2006/main">
            <a:off x="6381750" y="1857375"/>
            <a:ext cx="4267200" cy="4267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52803-5B13-4A5C-9B9A-2875F54D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real. Exemplo de formação.</a:t>
            </a:r>
          </a:p>
        </p:txBody>
      </p:sp>
    </p:spTree>
    <p:extLst>
      <p:ext uri="{BB962C8B-B14F-4D97-AF65-F5344CB8AC3E}">
        <p14:creationId xmlns:p14="http://schemas.microsoft.com/office/powerpoint/2010/main" val="10890164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44BAA-F8B2-40DE-B36F-E4C0BE74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evento fica registado no canal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35DB2-C3D9-4F5F-86AF-A077F789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O assunto identifica o evento. O corpo permite decidir o próximo passo.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0cffc68224977"/>
          <a:stretch xmlns:a="http://schemas.openxmlformats.org/drawingml/2006/main"/>
        </p:blipFill>
        <p:spPr>
          <a:xfrm xmlns:a="http://schemas.openxmlformats.org/drawingml/2006/main">
            <a:off x="1084082" y="1828800"/>
            <a:ext cx="10023835" cy="3314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CCC7E-125B-4144-80CC-2E28C1F1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Objetivo e data. Decisão necessária. Ação seguinte com responsável.</a:t>
            </a:r>
          </a:p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Este exemplo está em rascunho.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DDF80-C7BD-4D86-A76C-37130DE2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real. Exemplo de formação.</a:t>
            </a:r>
          </a:p>
        </p:txBody>
      </p:sp>
    </p:spTree>
    <p:extLst>
      <p:ext uri="{BB962C8B-B14F-4D97-AF65-F5344CB8AC3E}">
        <p14:creationId xmlns:p14="http://schemas.microsoft.com/office/powerpoint/2010/main" val="19092917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AF1B075-FCC0-4E04-8B08-5B5A0EB2C9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1  Selecionar o calendário certo.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2  Definir data, hora e local.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3  Adicionar os participantes.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4  Confirmar a receção do convite.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7F95C8E-35EB-4967-A802-4588E48C30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Calendário e convite de reunião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O calendário dá visibilidade à data. O convite solicita a participação.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pic>
        <p:nvPicPr>
          <p:cNvPr id="5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0c03032e34bfb"/>
          <a:stretch xmlns:a="http://schemas.openxmlformats.org/drawingml/2006/main"/>
        </p:blipFill>
        <p:spPr>
          <a:xfrm xmlns:a="http://schemas.openxmlformats.org/drawingml/2006/main">
            <a:off x="6353175" y="2881027"/>
            <a:ext cx="5381625" cy="2191320"/>
          </a:xfrm>
          <a:prstGeom xmlns:a="http://schemas.openxmlformats.org/drawingml/2006/main" prst="rect">
            <a:avLst/>
          </a:prstGeom>
        </p:spPr>
      </p:pic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321E201-5E35-4172-B3C0-FF61ACAA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857875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Microsoft de referência. O aspeto pode variar.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C759D0D-F3EB-4555-92BE-A278DFF8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08</a:t>
            </a:r>
          </a:p>
        </p:txBody>
      </p:sp>
    </p:spTree>
    <p:extLst>
      <p:ext uri="{BB962C8B-B14F-4D97-AF65-F5344CB8AC3E}">
        <p14:creationId xmlns:p14="http://schemas.microsoft.com/office/powerpoint/2010/main" val="410309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70195-919A-474B-BB78-922B2845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Do canal à tarefa no Planner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94673-FA40-4642-B793-73BF68C4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O Planner regista o resultado esperado, o responsável e o prazo.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9CC56-E6BC-49B5-9F51-F87A66F3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05025"/>
            <a:ext cx="4572000" cy="3552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1  Abrir o menu de aplicações.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2  Escolher Planner.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3  Abrir o plano adequado.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Exemplo de ação:</a:t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Validar o programa até 8 de outubro.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9cf05378745be"/>
          <a:stretch xmlns:a="http://schemas.openxmlformats.org/drawingml/2006/main"/>
        </p:blipFill>
        <p:spPr>
          <a:xfrm xmlns:a="http://schemas.openxmlformats.org/drawingml/2006/main">
            <a:off x="7123872" y="1857375"/>
            <a:ext cx="2782957" cy="4267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5A43E-01F3-4912-B2F5-3E3F9774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real. Exemplo de formação.</a:t>
            </a:r>
          </a:p>
        </p:txBody>
      </p:sp>
    </p:spTree>
    <p:extLst>
      <p:ext uri="{BB962C8B-B14F-4D97-AF65-F5344CB8AC3E}">
        <p14:creationId xmlns:p14="http://schemas.microsoft.com/office/powerpoint/2010/main" val="16354816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E607639-5EAF-4999-A08A-087FDB33019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Publicação no canal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com objetivo, data e responsável.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Evento no calendário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com convite ao colega.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D8AC625-D55E-429B-87E7-3C4047C1FA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Exercício em pares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Tarefa no Planner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com responsável e prazo.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No fim, a sala muda para B.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Que registos precisam de atualização?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10 minutos para organizar o Encontro com empresas num espaço de treino.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B9D01E0-1F61-48AB-BCAA-20F42C74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10</a:t>
            </a:r>
          </a:p>
        </p:txBody>
      </p:sp>
    </p:spTree>
    <p:extLst>
      <p:ext uri="{BB962C8B-B14F-4D97-AF65-F5344CB8AC3E}">
        <p14:creationId xmlns:p14="http://schemas.microsoft.com/office/powerpoint/2010/main" val="8492415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AF13ED0-0ADA-43F5-9EFF-24FE3E75E2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EXCEL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Os dados que mudam por destinatário.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WORD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mensagem comum e os campos.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9D8A05E-679D-425B-8EC4-5898033A6F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Convites personalizados em série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OUTLOOK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envio das mensagens individuais.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teste confirma a personalização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 a conta remetente.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Tarefas 0005 e 0032. Uma lista alimenta um modelo reutilizável.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0BBEAAE-848A-45E0-AE37-DC86473A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11</a:t>
            </a:r>
          </a:p>
        </p:txBody>
      </p:sp>
    </p:spTree>
    <p:extLst>
      <p:ext uri="{BB962C8B-B14F-4D97-AF65-F5344CB8AC3E}">
        <p14:creationId xmlns:p14="http://schemas.microsoft.com/office/powerpoint/2010/main" val="8553968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76C51AC-EE68-42D9-8A95-9AAC35B299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Conta profissional configurada.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Lista de teste separada.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Duas ou três caixas internas autorizadas.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1CAD9E7-C347-4E49-AD3F-40EABBE780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Antes da demonstração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novo Outlook tem suporte parcial.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versão e a integração devem ser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confirmadas antes de um envio real.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O percurso usa Word e Excel para computador e Outlook clássico em Windows.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FC33FCB-4E6A-47D4-9266-2CCE91A5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11</a:t>
            </a:r>
          </a:p>
        </p:txBody>
      </p:sp>
    </p:spTree>
    <p:extLst>
      <p:ext uri="{BB962C8B-B14F-4D97-AF65-F5344CB8AC3E}">
        <p14:creationId xmlns:p14="http://schemas.microsoft.com/office/powerpoint/2010/main" val="18726230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9B62E6C-40C2-44DE-AC14-3CB5B11DF5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Email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ana.silva@example.com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Nome e Empresa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Ana Silva · Empresa Exemplo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A887C4A-2EB6-4D34-8FDF-52F15AEED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lista começa no Excel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Saudacao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Cara Ana Silva,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DataTexto e HoraTexto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15 de outubro de 2026 · 10h00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Uma linha por destinatário. Cabeçalhos simples na primeira linha.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8BC2602-FA59-48C0-B225-8E0486EB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12</a:t>
            </a:r>
          </a:p>
        </p:txBody>
      </p:sp>
    </p:spTree>
    <p:extLst>
      <p:ext uri="{BB962C8B-B14F-4D97-AF65-F5344CB8AC3E}">
        <p14:creationId xmlns:p14="http://schemas.microsoft.com/office/powerpoint/2010/main" val="4521813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A6861-140C-4582-9F52-075CB76C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Word liga a lista à mensagem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DA4AC-AC5D-48D8-B03B-146C98D8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A lista fornece os dados. O Word define o texto comum.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b84ac156c4f6f"/>
          <a:stretch xmlns:a="http://schemas.openxmlformats.org/drawingml/2006/main"/>
        </p:blipFill>
        <p:spPr>
          <a:xfrm xmlns:a="http://schemas.openxmlformats.org/drawingml/2006/main">
            <a:off x="3205054" y="1828800"/>
            <a:ext cx="5781891" cy="3314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DD491-0F1A-4E59-A976-F2A3A34E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Mailings = Correio / Mailings. Select Recipients = Selecionar Destinatários.</a:t>
            </a:r>
          </a:p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Use an Existing List = Utilizar uma Lista Existente.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FCF9D-3C68-44C1-AFFD-AA9DB311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real. Exemplo de formação.</a:t>
            </a:r>
          </a:p>
        </p:txBody>
      </p:sp>
    </p:spTree>
    <p:extLst>
      <p:ext uri="{BB962C8B-B14F-4D97-AF65-F5344CB8AC3E}">
        <p14:creationId xmlns:p14="http://schemas.microsoft.com/office/powerpoint/2010/main" val="7337276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54E4F-0E3C-4072-B324-36BF0B71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Os campos ficam no 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65AE7-231E-42A8-AF3C-C3926E5F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Nome e Empresa mudam para cada linha da lista.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45745df284057"/>
          <a:stretch xmlns:a="http://schemas.openxmlformats.org/drawingml/2006/main"/>
        </p:blipFill>
        <p:spPr>
          <a:xfrm xmlns:a="http://schemas.openxmlformats.org/drawingml/2006/main">
            <a:off x="1079157" y="1828800"/>
            <a:ext cx="10033686" cy="3314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8E71C-7B17-405D-A8B3-EBCCE29D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Insert Merge Field = Inserir Campo de Impressão em Série.</a:t>
            </a:r>
          </a:p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Inserir campos reais nos pontos onde o texto varia.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67F83-B22C-486C-8683-DF42F2CB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real. Exemplo de formação.</a:t>
            </a:r>
          </a:p>
        </p:txBody>
      </p:sp>
    </p:spTree>
    <p:extLst>
      <p:ext uri="{BB962C8B-B14F-4D97-AF65-F5344CB8AC3E}">
        <p14:creationId xmlns:p14="http://schemas.microsoft.com/office/powerpoint/2010/main" val="18279447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957EB-7EE8-4710-96A2-F6EAB2F0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lista selecionada merece revisão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82C11-ED83-423E-9D7F-7E39282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Cada linha marcada pode gerar uma mensagem.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88411-6A38-48F7-AFC5-0A540736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05025"/>
            <a:ext cx="4572000" cy="3552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Confirmar a folha certa.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Verificar os nomes e e-mails.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Remover do lote as linhas indevidas.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No ensaio, usar apenas dados fictícios.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fe3b9c1cf4849"/>
          <a:stretch xmlns:a="http://schemas.openxmlformats.org/drawingml/2006/main"/>
        </p:blipFill>
        <p:spPr>
          <a:xfrm xmlns:a="http://schemas.openxmlformats.org/drawingml/2006/main">
            <a:off x="5658100" y="1857375"/>
            <a:ext cx="5714500" cy="4267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F1D3D-25AC-4869-8128-6985CD7A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real. Exemplo de formação.</a:t>
            </a:r>
          </a:p>
        </p:txBody>
      </p:sp>
    </p:spTree>
    <p:extLst>
      <p:ext uri="{BB962C8B-B14F-4D97-AF65-F5344CB8AC3E}">
        <p14:creationId xmlns:p14="http://schemas.microsoft.com/office/powerpoint/2010/main" val="10890164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8031C-B68F-48A7-B2FD-8A759A0E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pré-visualização mostra o resultado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8C96D-BE58-4024-95A7-D495A7BD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O primeiro registo transforma os campos em Ana Exemplo e Empresa Alfa.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6e78757ff47af"/>
          <a:stretch xmlns:a="http://schemas.openxmlformats.org/drawingml/2006/main"/>
        </p:blipFill>
        <p:spPr>
          <a:xfrm xmlns:a="http://schemas.openxmlformats.org/drawingml/2006/main">
            <a:off x="1079157" y="1828800"/>
            <a:ext cx="10033686" cy="3314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CFA6C-1103-4597-9470-7BF7136B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Preview Results = Pré-visualizar Resultados.</a:t>
            </a:r>
          </a:p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Percorrer os registos com as setas e verificar nomes, empresas e texto.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FF1A3-CD83-4219-A072-4EC92054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real. Exemplo de formação.</a:t>
            </a:r>
          </a:p>
        </p:txBody>
      </p:sp>
    </p:spTree>
    <p:extLst>
      <p:ext uri="{BB962C8B-B14F-4D97-AF65-F5344CB8AC3E}">
        <p14:creationId xmlns:p14="http://schemas.microsoft.com/office/powerpoint/2010/main" val="12572593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A2FF8-56DC-4A87-BDDF-F279080B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teste vem antes do lote real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302E1-05AD-4211-8CE6-A07630F1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Concluir e Intercalar abre as opções de conclusão.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f17cd915044d7"/>
          <a:stretch xmlns:a="http://schemas.openxmlformats.org/drawingml/2006/main"/>
        </p:blipFill>
        <p:spPr>
          <a:xfrm xmlns:a="http://schemas.openxmlformats.org/drawingml/2006/main">
            <a:off x="1762125" y="1828800"/>
            <a:ext cx="8667750" cy="3314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9F799-07F7-4285-9FC7-1CB9635F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Finish &amp; Merge = Concluir e Intercalar.</a:t>
            </a:r>
          </a:p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Send Email Messages = Enviar Mensagens de Correio Eletrónico.</a:t>
            </a:r>
          </a:p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Antes do envio real: conta, coluna Email, assunto, HTML e seleção do lote.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A1D2D-8E2A-49CF-87D3-009D42BE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real. Exemplo de formação.</a:t>
            </a:r>
          </a:p>
        </p:txBody>
      </p:sp>
    </p:spTree>
    <p:extLst>
      <p:ext uri="{BB962C8B-B14F-4D97-AF65-F5344CB8AC3E}">
        <p14:creationId xmlns:p14="http://schemas.microsoft.com/office/powerpoint/2010/main" val="4777027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3AA39CF-3FDB-4D26-BA8E-52ABE44447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Uma mensagem por destinatário.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Assunto comum.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Sem anexos no percurso básico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de impressão em série para Windows.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1ED96BE-1638-4B2F-B065-8793145910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Limites do procedimento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Sem CC ou BCC neste percurso.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Ligações com permissões verificadas.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Itens Enviados não prova leitura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nem entrega final.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Estas condições ajudam a escolher o processo adequado.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3B0F234-628A-4A8A-9CD5-85416029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16 e 18</a:t>
            </a:r>
          </a:p>
        </p:txBody>
      </p:sp>
    </p:spTree>
    <p:extLst>
      <p:ext uri="{BB962C8B-B14F-4D97-AF65-F5344CB8AC3E}">
        <p14:creationId xmlns:p14="http://schemas.microsoft.com/office/powerpoint/2010/main" val="12014064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8643B83-DCD5-4F6D-881A-45F1795522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Criar duas linhas de teste.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Inserir saudação e empresa.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Pré-visualizar os dois registos.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EC4B19-FE80-4D7D-9247-1DA2A34885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Exercício de personalização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Confirmar destinatários internos.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Enviar uma vez.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Comparar as mensagens recebidas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com as linhas do Excel.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7 minutos. O desafio termina com uma mensagem de teste recebida.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8064115-DDEA-4C7F-B71E-85700267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11–16</a:t>
            </a:r>
          </a:p>
        </p:txBody>
      </p:sp>
    </p:spTree>
    <p:extLst>
      <p:ext uri="{BB962C8B-B14F-4D97-AF65-F5344CB8AC3E}">
        <p14:creationId xmlns:p14="http://schemas.microsoft.com/office/powerpoint/2010/main" val="88672150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B494C86F-E744-438B-BAE4-F3B98BDE95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TEAMS E PLANNER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Conta, acesso e permissões.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CALENDÁRIO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Partilha e receção do convite.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B06DFB5-ACD1-4693-9ABD-B5F667296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Quando algo não funciona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WORD E EXCEL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Folha, cabeçalhos e campos.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OUTLOOK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Versão, conta e Caixa de Saída.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O guia permite retomar o passo em que surgiu a dúvida.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5455A96-CA72-4AEE-A7DC-1930036D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17–18</a:t>
            </a:r>
          </a:p>
        </p:txBody>
      </p:sp>
    </p:spTree>
    <p:extLst>
      <p:ext uri="{BB962C8B-B14F-4D97-AF65-F5344CB8AC3E}">
        <p14:creationId xmlns:p14="http://schemas.microsoft.com/office/powerpoint/2010/main" val="86316684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4083F-7782-467D-A3E7-29172901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Copilot no Teams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D09E9-5D0F-4800-BBF3-D57951EE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Um pedido concreto ajuda a preparar a próxima ação.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6c7c4e2564a9c"/>
          <a:stretch xmlns:a="http://schemas.openxmlformats.org/drawingml/2006/main"/>
        </p:blipFill>
        <p:spPr>
          <a:xfrm xmlns:a="http://schemas.openxmlformats.org/drawingml/2006/main">
            <a:off x="1636693" y="1828800"/>
            <a:ext cx="8918615" cy="3314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A9829-2C99-4F81-98B2-BEFEE934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“Escreve uma agenda de 30 minutos para preparar um encontro de empresas.</a:t>
            </a:r>
          </a:p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Usa português de Portugal. Não inventes participantes nem decisões.”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3F4D8-92C1-4FBD-9C39-94D75E81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real. Exemplo de formação.</a:t>
            </a:r>
          </a:p>
        </p:txBody>
      </p:sp>
    </p:spTree>
    <p:extLst>
      <p:ext uri="{BB962C8B-B14F-4D97-AF65-F5344CB8AC3E}">
        <p14:creationId xmlns:p14="http://schemas.microsoft.com/office/powerpoint/2010/main" val="108901643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1B32F-B479-4C8E-9CF7-A8BFFA63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Copilot no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A0340-374A-4F1A-A6E1-248A5B98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Do pedido a um rascunho que continua a precisar de revisão.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7461C-E756-4670-AE89-304A2C2D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05025"/>
            <a:ext cx="4572000" cy="3552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Novo e-mail.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Copilot &gt; Rascunho.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Indicar objetivo e factos.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Gerar, rever e manter.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Confirmar os destinatários antes de enviar.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79f37a5664189"/>
          <a:stretch xmlns:a="http://schemas.openxmlformats.org/drawingml/2006/main"/>
        </p:blipFill>
        <p:spPr>
          <a:xfrm xmlns:a="http://schemas.openxmlformats.org/drawingml/2006/main">
            <a:off x="5276850" y="2396733"/>
            <a:ext cx="6477000" cy="318848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BD4F1-AB1E-4E69-B481-E3A7926B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Microsoft Support. Novo Outlook em inglês. Draft = Rascunho.</a:t>
            </a:r>
          </a:p>
        </p:txBody>
      </p:sp>
    </p:spTree>
    <p:extLst>
      <p:ext uri="{BB962C8B-B14F-4D97-AF65-F5344CB8AC3E}">
        <p14:creationId xmlns:p14="http://schemas.microsoft.com/office/powerpoint/2010/main" val="108901643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7644D-33FF-4035-B5AD-F41CD3E5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Uma resposta útil precisa de confirmação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D5CD0-2D72-442C-B810-3E054870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O Copilot ajuda a redigir e resumir. A validação continua com a pessoa.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acebf473c4ad9"/>
          <a:stretch xmlns:a="http://schemas.openxmlformats.org/drawingml/2006/main"/>
        </p:blipFill>
        <p:spPr>
          <a:xfrm xmlns:a="http://schemas.openxmlformats.org/drawingml/2006/main">
            <a:off x="1079157" y="1828800"/>
            <a:ext cx="10033686" cy="3314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9984C-06B2-4D6E-A1A6-37345DEC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Há uma fonte para a decisão? A data está correta? O responsável foi indicado?</a:t>
            </a:r>
          </a:p>
          <a:p xmlns:a="http://schemas.openxmlformats.org/drawingml/2006/main">
            <a:pPr>
              <a:defRPr sz="1875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Se faltar informação, pedir ao Copilot que a assinale.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03505-B538-489C-BFDA-17B2A11A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real. Exemplo de formação.</a:t>
            </a:r>
          </a:p>
        </p:txBody>
      </p:sp>
    </p:spTree>
    <p:extLst>
      <p:ext uri="{BB962C8B-B14F-4D97-AF65-F5344CB8AC3E}">
        <p14:creationId xmlns:p14="http://schemas.microsoft.com/office/powerpoint/2010/main" val="108901643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1F9DE98-0652-4C03-AD67-3DDE6B9322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Os eventos aparecem no canal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quando começam a ser planeados.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As ações têm responsável e prazo.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38E35FA-CC74-4F60-8221-1880C30AE8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primeiro mês de utilização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equipa repete o envio de teste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sem depender da demonstração.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As dúvidas ajudam a atualizar o guia.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Proposta de acompanhamento para consolidar as novas rotinas.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33E08A8-6C7E-4BCF-A3C2-930CF4D7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19</a:t>
            </a:r>
          </a:p>
        </p:txBody>
      </p:sp>
    </p:spTree>
    <p:extLst>
      <p:ext uri="{BB962C8B-B14F-4D97-AF65-F5344CB8AC3E}">
        <p14:creationId xmlns:p14="http://schemas.microsoft.com/office/powerpoint/2010/main" val="1407527847"/>
      </p:ext>
    </p:extLst>
  </p:cSld>
</p:sld>
</file>

<file path=ppt/slides/slide2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4986"/>
            </a:gs>
            <a:gs pos="100000">
              <a:srgbClr val="1F2044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1F3E4-6436-4334-8CAD-E3935471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Dúvidas e prática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2C6D2-C518-4114-A1F9-69CAF80A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 destes procedimentos vai utilizar primeiro?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CED07-90F8-4905-881C-F7A3B0CD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904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O guia inclui os passos completos,</a:t>
            </a:r>
          </a:p>
          <a:p xmlns:a="http://schemas.openxmlformats.org/drawingml/2006/main">
            <a:pPr>
              <a:buNone/>
              <a:defRPr sz="1950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modelos e perguntas frequentes.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B777A-F550-426A-848F-3E000F75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AIP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2F4F7"/>
      </a:lt2>
      <a:accent1>
        <a:srgbClr val="004986"/>
      </a:accent1>
      <a:accent2>
        <a:srgbClr val="0B3668"/>
      </a:accent2>
      <a:accent3>
        <a:srgbClr val="F2F4F7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2026-09-07T23:10:17.1030000Z</dcterms:created>
  <dcterms:modified xsi:type="dcterms:W3CDTF">2026-09-07T23:10:17.1030000Z</dcterms:modified>
</coreProperties>
</file>