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ab62cf84324bcb" /><Relationship Type="http://schemas.openxmlformats.org/officeDocument/2006/relationships/extended-properties" Target="/docProps/app.xml" Id="R695b93137e774362" /><Relationship Type="http://schemas.openxmlformats.org/officeDocument/2006/relationships/officeDocument" Target="/ppt/presentation.xml" Id="R4ea1d5155e934a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cec28cb20b4429"/>
  </p:sldMasterIdLst>
  <p:notesMasterIdLst>
    <p:notesMasterId xmlns:r="http://schemas.openxmlformats.org/officeDocument/2006/relationships" r:id="Rf1f644525fe44b13"/>
  </p:notesMasterIdLst>
  <p:sldIdLst>
    <p:sldId xmlns:r="http://schemas.openxmlformats.org/officeDocument/2006/relationships" id="256" r:id="Rf3bca6af828e4855"/>
    <p:sldId xmlns:r="http://schemas.openxmlformats.org/officeDocument/2006/relationships" id="257" r:id="R318ec3ec21424730"/>
    <p:sldId xmlns:r="http://schemas.openxmlformats.org/officeDocument/2006/relationships" id="258" r:id="R7b199af39092402c"/>
    <p:sldId xmlns:r="http://schemas.openxmlformats.org/officeDocument/2006/relationships" id="259" r:id="R924f0110f8984e1a"/>
    <p:sldId xmlns:r="http://schemas.openxmlformats.org/officeDocument/2006/relationships" id="260" r:id="R302a58a1b8ee4ffc"/>
    <p:sldId xmlns:r="http://schemas.openxmlformats.org/officeDocument/2006/relationships" id="261" r:id="R48e5f93db2bf4156"/>
    <p:sldId xmlns:r="http://schemas.openxmlformats.org/officeDocument/2006/relationships" id="262" r:id="R63b3b19800664f72"/>
    <p:sldId xmlns:r="http://schemas.openxmlformats.org/officeDocument/2006/relationships" id="263" r:id="R6b703f21a9d44950"/>
    <p:sldId xmlns:r="http://schemas.openxmlformats.org/officeDocument/2006/relationships" id="264" r:id="Rbe69cf8f97d94635"/>
    <p:sldId xmlns:r="http://schemas.openxmlformats.org/officeDocument/2006/relationships" id="265" r:id="Rcf2f80251788431c"/>
    <p:sldId xmlns:r="http://schemas.openxmlformats.org/officeDocument/2006/relationships" id="266" r:id="Rf0331ec12b3f482a"/>
    <p:sldId xmlns:r="http://schemas.openxmlformats.org/officeDocument/2006/relationships" id="267" r:id="R44be3cc5f28c445a"/>
    <p:sldId xmlns:r="http://schemas.openxmlformats.org/officeDocument/2006/relationships" id="268" r:id="R296a439769ef43ce"/>
    <p:sldId xmlns:r="http://schemas.openxmlformats.org/officeDocument/2006/relationships" id="269" r:id="Re3546465868c4ee2"/>
    <p:sldId xmlns:r="http://schemas.openxmlformats.org/officeDocument/2006/relationships" id="270" r:id="R46ad755a92e44f74"/>
    <p:sldId xmlns:r="http://schemas.openxmlformats.org/officeDocument/2006/relationships" id="271" r:id="Rfa4def339f92415b"/>
    <p:sldId xmlns:r="http://schemas.openxmlformats.org/officeDocument/2006/relationships" id="272" r:id="R3a5833199ae5432d"/>
    <p:sldId xmlns:r="http://schemas.openxmlformats.org/officeDocument/2006/relationships" id="273" r:id="Rdaf44c3358e946fd"/>
    <p:sldId xmlns:r="http://schemas.openxmlformats.org/officeDocument/2006/relationships" id="274" r:id="R89e87542ff634fbc"/>
    <p:sldId xmlns:r="http://schemas.openxmlformats.org/officeDocument/2006/relationships" id="275" r:id="Rcb9e79c7f5f84a6c"/>
    <p:sldId xmlns:r="http://schemas.openxmlformats.org/officeDocument/2006/relationships" id="276" r:id="R9a0792866d714751"/>
    <p:sldId xmlns:r="http://schemas.openxmlformats.org/officeDocument/2006/relationships" id="277" r:id="R3b333ce2d5834496"/>
    <p:sldId xmlns:r="http://schemas.openxmlformats.org/officeDocument/2006/relationships" id="278" r:id="R59b0b3a9636b4faa"/>
    <p:sldId xmlns:r="http://schemas.openxmlformats.org/officeDocument/2006/relationships" id="279" r:id="Rfe910670bbba44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7b29ac39fd430f" /><Relationship Type="http://schemas.openxmlformats.org/officeDocument/2006/relationships/slideMaster" Target="/ppt/slideMasters/slideMaster1.xml" Id="R69cec28cb20b4429" /><Relationship Type="http://schemas.openxmlformats.org/officeDocument/2006/relationships/notesMaster" Target="/ppt/notesMasters/notesMaster1.xml" Id="Rf1f644525fe44b13" /><Relationship Type="http://schemas.openxmlformats.org/officeDocument/2006/relationships/presProps" Target="/ppt/presProps.xml" Id="R81055908b900416c" /><Relationship Type="http://schemas.openxmlformats.org/officeDocument/2006/relationships/viewProps" Target="/ppt/viewProps.xml" Id="R3eb1765bd5104b6d" /><Relationship Type="http://schemas.openxmlformats.org/officeDocument/2006/relationships/tableStyles" Target="/ppt/tableStyles.xml" Id="Ra53a0f55b3b049d4" /><Relationship Type="http://schemas.openxmlformats.org/officeDocument/2006/relationships/slide" Target="/ppt/slides/slide1.xml" Id="Rf3bca6af828e4855" /><Relationship Type="http://schemas.openxmlformats.org/officeDocument/2006/relationships/slide" Target="/ppt/slides/slide2.xml" Id="R318ec3ec21424730" /><Relationship Type="http://schemas.openxmlformats.org/officeDocument/2006/relationships/slide" Target="/ppt/slides/slide3.xml" Id="R7b199af39092402c" /><Relationship Type="http://schemas.openxmlformats.org/officeDocument/2006/relationships/slide" Target="/ppt/slides/slide4.xml" Id="R924f0110f8984e1a" /><Relationship Type="http://schemas.openxmlformats.org/officeDocument/2006/relationships/slide" Target="/ppt/slides/slide5.xml" Id="R302a58a1b8ee4ffc" /><Relationship Type="http://schemas.openxmlformats.org/officeDocument/2006/relationships/slide" Target="/ppt/slides/slide6.xml" Id="R48e5f93db2bf4156" /><Relationship Type="http://schemas.openxmlformats.org/officeDocument/2006/relationships/slide" Target="/ppt/slides/slide7.xml" Id="R63b3b19800664f72" /><Relationship Type="http://schemas.openxmlformats.org/officeDocument/2006/relationships/slide" Target="/ppt/slides/slide8.xml" Id="R6b703f21a9d44950" /><Relationship Type="http://schemas.openxmlformats.org/officeDocument/2006/relationships/slide" Target="/ppt/slides/slide9.xml" Id="Rbe69cf8f97d94635" /><Relationship Type="http://schemas.openxmlformats.org/officeDocument/2006/relationships/slide" Target="/ppt/slides/slide10.xml" Id="Rcf2f80251788431c" /><Relationship Type="http://schemas.openxmlformats.org/officeDocument/2006/relationships/slide" Target="/ppt/slides/slide11.xml" Id="Rf0331ec12b3f482a" /><Relationship Type="http://schemas.openxmlformats.org/officeDocument/2006/relationships/slide" Target="/ppt/slides/slide12.xml" Id="R44be3cc5f28c445a" /><Relationship Type="http://schemas.openxmlformats.org/officeDocument/2006/relationships/slide" Target="/ppt/slides/slide13.xml" Id="R296a439769ef43ce" /><Relationship Type="http://schemas.openxmlformats.org/officeDocument/2006/relationships/slide" Target="/ppt/slides/slide14.xml" Id="Re3546465868c4ee2" /><Relationship Type="http://schemas.openxmlformats.org/officeDocument/2006/relationships/slide" Target="/ppt/slides/slide15.xml" Id="R46ad755a92e44f74" /><Relationship Type="http://schemas.openxmlformats.org/officeDocument/2006/relationships/slide" Target="/ppt/slides/slide16.xml" Id="Rfa4def339f92415b" /><Relationship Type="http://schemas.openxmlformats.org/officeDocument/2006/relationships/slide" Target="/ppt/slides/slide17.xml" Id="R3a5833199ae5432d" /><Relationship Type="http://schemas.openxmlformats.org/officeDocument/2006/relationships/slide" Target="/ppt/slides/slide18.xml" Id="Rdaf44c3358e946fd" /><Relationship Type="http://schemas.openxmlformats.org/officeDocument/2006/relationships/slide" Target="/ppt/slides/slide19.xml" Id="R89e87542ff634fbc" /><Relationship Type="http://schemas.openxmlformats.org/officeDocument/2006/relationships/slide" Target="/ppt/slides/slide20.xml" Id="Rcb9e79c7f5f84a6c" /><Relationship Type="http://schemas.openxmlformats.org/officeDocument/2006/relationships/slide" Target="/ppt/slides/slide21.xml" Id="R9a0792866d714751" /><Relationship Type="http://schemas.openxmlformats.org/officeDocument/2006/relationships/slide" Target="/ppt/slides/slide22.xml" Id="R3b333ce2d5834496" /><Relationship Type="http://schemas.openxmlformats.org/officeDocument/2006/relationships/slide" Target="/ppt/slides/slide23.xml" Id="R59b0b3a9636b4faa" /><Relationship Type="http://schemas.openxmlformats.org/officeDocument/2006/relationships/slide" Target="/ppt/slides/slide24.xml" Id="Rfe910670bbba44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38dfce0ce344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2F4F7"/>
      </a:lt2>
      <a:accent1>
        <a:srgbClr val="004986"/>
      </a:accent1>
      <a:accent2>
        <a:srgbClr val="0B3668"/>
      </a:accent2>
      <a:accent3>
        <a:srgbClr val="F2F4F7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168bbf71bf4782" /><Relationship Type="http://schemas.openxmlformats.org/officeDocument/2006/relationships/notesMaster" Target="/ppt/notesMasters/notesMaster1.xml" Id="R0de794badfb443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a87e89e2584340" /><Relationship Type="http://schemas.openxmlformats.org/officeDocument/2006/relationships/notesMaster" Target="/ppt/notesMasters/notesMaster1.xml" Id="R35cf524bb76d40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2da68de1664c2b" /><Relationship Type="http://schemas.openxmlformats.org/officeDocument/2006/relationships/notesMaster" Target="/ppt/notesMasters/notesMaster1.xml" Id="Rb1bb0bc693b645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cc46e797a74d6b" /><Relationship Type="http://schemas.openxmlformats.org/officeDocument/2006/relationships/notesMaster" Target="/ppt/notesMasters/notesMaster1.xml" Id="Rb529a6f544cb4d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58bac60f404434" /><Relationship Type="http://schemas.openxmlformats.org/officeDocument/2006/relationships/notesMaster" Target="/ppt/notesMasters/notesMaster1.xml" Id="R2574a5566e1c49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2cb45ae4144452" /><Relationship Type="http://schemas.openxmlformats.org/officeDocument/2006/relationships/notesMaster" Target="/ppt/notesMasters/notesMaster1.xml" Id="R759425fe898544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917ea02f714126" /><Relationship Type="http://schemas.openxmlformats.org/officeDocument/2006/relationships/notesMaster" Target="/ppt/notesMasters/notesMaster1.xml" Id="R10820868559a44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b193b859294843" /><Relationship Type="http://schemas.openxmlformats.org/officeDocument/2006/relationships/notesMaster" Target="/ppt/notesMasters/notesMaster1.xml" Id="Rd90b334c1b7a4b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981675bfbb4d67" /><Relationship Type="http://schemas.openxmlformats.org/officeDocument/2006/relationships/notesMaster" Target="/ppt/notesMasters/notesMaster1.xml" Id="Re6ecd6bbf47944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a5d961af714bdd" /><Relationship Type="http://schemas.openxmlformats.org/officeDocument/2006/relationships/notesMaster" Target="/ppt/notesMasters/notesMaster1.xml" Id="Rfae57dbdf15541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940baa35b840e0" /><Relationship Type="http://schemas.openxmlformats.org/officeDocument/2006/relationships/notesMaster" Target="/ppt/notesMasters/notesMaster1.xml" Id="R6a1e81e14c2f4c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e9054f6f5c4fef" /><Relationship Type="http://schemas.openxmlformats.org/officeDocument/2006/relationships/notesMaster" Target="/ppt/notesMasters/notesMaster1.xml" Id="R18520e51a2a1487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08286888a9d4002" /><Relationship Type="http://schemas.openxmlformats.org/officeDocument/2006/relationships/notesMaster" Target="/ppt/notesMasters/notesMaster1.xml" Id="R11e82d6aa22d4df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bc7a1e3152a43d3" /><Relationship Type="http://schemas.openxmlformats.org/officeDocument/2006/relationships/notesMaster" Target="/ppt/notesMasters/notesMaster1.xml" Id="R7479236ff9c24ab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79bc6e655f64467" /><Relationship Type="http://schemas.openxmlformats.org/officeDocument/2006/relationships/notesMaster" Target="/ppt/notesMasters/notesMaster1.xml" Id="Rd01f037408a1404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b7ad67f927a4ef4" /><Relationship Type="http://schemas.openxmlformats.org/officeDocument/2006/relationships/notesMaster" Target="/ppt/notesMasters/notesMaster1.xml" Id="R5d87715313684c0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500a23fe400422f" /><Relationship Type="http://schemas.openxmlformats.org/officeDocument/2006/relationships/notesMaster" Target="/ppt/notesMasters/notesMaster1.xml" Id="Rc87db27ce8da47a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3eda37fd68f45f8" /><Relationship Type="http://schemas.openxmlformats.org/officeDocument/2006/relationships/notesMaster" Target="/ppt/notesMasters/notesMaster1.xml" Id="R913fdc43dcd54f9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8e0ecbebab74c25" /><Relationship Type="http://schemas.openxmlformats.org/officeDocument/2006/relationships/notesMaster" Target="/ppt/notesMasters/notesMaster1.xml" Id="R4987fd139ecf477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75de7c485ad48f7" /><Relationship Type="http://schemas.openxmlformats.org/officeDocument/2006/relationships/notesMaster" Target="/ppt/notesMasters/notesMaster1.xml" Id="Rfb8a47e3ac70475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5c9e6b991b6406a" /><Relationship Type="http://schemas.openxmlformats.org/officeDocument/2006/relationships/notesMaster" Target="/ppt/notesMasters/notesMaster1.xml" Id="R60ab65b4871b412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cfd0cd5da5a4787" /><Relationship Type="http://schemas.openxmlformats.org/officeDocument/2006/relationships/notesMaster" Target="/ppt/notesMasters/notesMaster1.xml" Id="Rc37252c45bc94ab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7a4ffa472c94aee" /><Relationship Type="http://schemas.openxmlformats.org/officeDocument/2006/relationships/notesMaster" Target="/ppt/notesMasters/notesMaster1.xml" Id="Re6c27039a3f94af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cb93dba092745c9" /><Relationship Type="http://schemas.openxmlformats.org/officeDocument/2006/relationships/notesMaster" Target="/ppt/notesMasters/notesMaster1.xml" Id="Rcbd8f66e3c6c4f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Sessão sugerida de 60 minutos, com exercícios e espaço para perguntas. Destinatários: colaboradores da AIP. Base: memória descritiva, secção 5, tarefas 0007, 0005/0032, 0011/0012. Não apresentar as propostas de utilização como políticas já aprovadas. O exemplo do Encontro com empresas e os nomes são fictícios.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Âmbito: tarefas 0007, 0005/0032, 0011/0012 da Memória Descritiva, secção 5. Exemplos fictícios.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Pergunte ao grupo onde procuraria cada informação hoje. Aceite duas ou três respostas, sem fazer uma discussão longa. O objetivo é ligar os procedimentos a um caso de trabalho reconhecível. Não afirmar que o evento está planeado pela AIP.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Âmbito: tarefas 0007, 0005/0032, 0011/0012 da Memória Descritiva, secção 5. Exemplos fictícios.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Distribuição sugerida dos 60 minutos: 5 de enquadramento, 8 de comunicação, 15 de organização e exercício, 20 de impressão em série, 7 de teste e 5 de dúvidas. Ajustar ao ritmo do grupo.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Âmbito: tarefas 0007, 0005/0032, 0011/0012 da Memória Descritiva, secção 5. Exemplos fictícios.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Exemplo: uma pergunta sobre quem revê o programa vai para chat; a versão validada fica ligada à publicação no canal; o convite externo segue por e-mail. Um pedido formal continua a seguir as regras internas. Pedir ao grupo um exemplo que gere dúvida.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Âmbito: tarefas 0007, 0005/0032, 0011/0012 da Memória Descritiva, secção 5. Exemplos fictícios.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Ler o exemplo como uma mensagem única. Explicar que a presença no Teams não garante disponibilidade imediata. Se a revisão conduzir a uma decisão relevante para a equipa, publicar uma síntese no canal.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Âmbito: tarefas 0007, 0005/0032, 0011/0012 da Memória Descritiva, secção 5. Exemplos fictícios.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Demonstrar com uma conta de treino e um colega autorizado. A captura mostra o acesso aos novos itens na vista combinada. Os rótulos variam entre versões. Fonte da interface: Microsoft Support, criar um canal no Teams [S2 no guia]. Passos de chat: S3.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Âmbito: tarefas 0007, 0005/0032, 0011/0012 da Memória Descritiva, secção 5. Exemplos fictícios.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Criar um canal no Microsoft Teams: https://support.microsoft.com/pt-pt/teams/teams-channels/create-a-standard-private-or-shared-channel-in-microsoft-teams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Introdução ao chat no Teams: https://support.microsoft.com/pt-pt/office/sugest%C3%B5es-r%C3%A1pidas-introdu%C3%A7%C3%A3o-ao-chat-00f5ca91-41a3-4649-97b8-3b2207b720ff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Imagem Microsoft: https://support.microsoft.com/pt-pt/teams/media/combined-view-new-items.png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Página de origem: https://support.microsoft.com/pt-pt/teams/teams-channels/create-a-standard-private-or-shared-channel-in-microsoft-teams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Percorrer a linha superior do esquema e relacionar com o caso fictício. Explicar que este é um esquema ilustrativo gerado para a formação, não uma captura do ambiente AIP. As ligações e atualizações entre aplicações são manuais neste procedimento. A linha inferior prepara o segundo bloco.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Âmbito: tarefas 0007, 0005/0032, 0011/0012 da Memória Descritiva, secção 5. Exemplos fictícios.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Começar pela equipa existente para evitar duplicação. Um canal padrão fica disponível aos membros dessa equipa, não a toda a organização. Se o utilizador não tiver permissão, pedir ao proprietário ou TI. A imagem é uma captura Microsoft, S2. O nome de canal é uma proposta, não uma configuração já realizada.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Âmbito: tarefas 0007, 0005/0032, 0011/0012 da Memória Descritiva, secção 5. Exemplos fictícios.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Criar um canal no Microsoft Teams: https://support.microsoft.com/pt-pt/teams/teams-channels/create-a-standard-private-or-shared-channel-in-microsoft-teams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Imagem Microsoft: https://support.microsoft.com/pt-pt/teams/media/create-a-channel-from-new-channel.png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Página de origem: https://support.microsoft.com/pt-pt/teams/teams-channels/create-a-standard-private-or-shared-channel-in-microsoft-teams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Pedir ao grupo para identificar o elemento que ainda está por confirmar. Mostrar como responder à publicação original para manter as atualizações juntas. O nome do responsável e as datas são dados de treino. Consultar o modelo completo no guia 07.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Âmbito: tarefas 0007, 0005/0032, 0011/0012 da Memória Descritiva, secção 5. Exemplos fictícios.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imagem mostra Partilha e permissões com uma opção de delegado. Não instruir a atribuir delegação apenas para consultar um calendário. Explicar leitura versus edição. Eventos num calendário secundário podem não bloquear disponibilidade pessoal. Fonte Microsoft S4 e S5. Enviar e atualizar convites apenas durante exercício autorizado.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Âmbito: tarefas 0007, 0005/0032, 0011/0012 da Memória Descritiva, secção 5. Exemplos fictícios.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Partilha com permissões de edição e delegação: https://support.microsoft.com/pt-pt/outlook/sharing/share-and-access-a-calendar-with-edit-or-delegate-permissions-in-outlook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Calendários partilhados no Outlook: https://support.microsoft.com/pt-pt/outlook/sharing/about-shared-mailboxes-shared-folders-and-shared-calendars-in-outlook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Imagem Microsoft: https://support.microsoft.com/pt-pt/outlook/media/sharing-and-permissions.png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Página de origem: https://support.microsoft.com/pt-pt/outlook/sharing/share-and-access-a-calendar-with-edit-or-delegate-permissions-in-outlook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No Planner, abrir o plano partilhado, Adicionar tarefa, atribuir pessoa e data, abrir os detalhes e acrescentar a lista e a ligação. A mudança de estado não deve depender apenas de arrastar um cartão entre grupos. O plano pode estar num separador do canal padrão, se disponível. Fonte Microsoft S6 e S7.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Âmbito: tarefas 0007, 0005/0032, 0011/0012 da Memória Descritiva, secção 5. Exemplos fictícios.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Organizar as tarefas da equipa no Planner: https://support.microsoft.com/pt-pt/planner/training/organize-your-team-s-tasks-in-microsoft-planner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Criar o plano e os detalhes das tarefas: https://support.microsoft.com/pt-PT/Planner/training/build-your-plan-in-microsoft-planner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Dar 7 minutos para criar os registos e 3 para a mudança de sala. Verificar calendário, atualização do convite e publicação original. Rever a tarefa se o conteúdo for afetado. Critério: o colega encontra o estado do evento sem explicações por chat. Não usar destinatários externos.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Âmbito: tarefas 0007, 0005/0032, 0011/0012 da Memória Descritiva, secção 5. Exemplos fictícios.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Clarificar que os dois pedidos estão consolidados na memória descritiva. Não prometer um ganho de tempo quantificado nem rastreio de aberturas. Neste módulo, seguir o percurso Word para computador e Outlook clássico em Windows.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Âmbito: tarefas 0007, 0005/0032, 0011/0012 da Memória Descritiva, secção 5. Exemplos fictícios.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Fonte: Microsoft S9, comparação de funcionalidades, indica suporte parcial para impressão em série no novo Outlook. Não afirmar que é totalmente impossível em todas as versões. Demonstrar a conta utilizada num envio interno. Valores em example.com no guia não são destinos de teste reais.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Âmbito: tarefas 0007, 0005/0032, 0011/0012 da Memória Descritiva, secção 5. Exemplos fictícios.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Comparação entre novo Outlook e Outlook clássico: https://support.microsoft.com/en-us/outlook/getstarted/feature-comparison-between-new-outlook-and-classic-outlook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Todos os dados são fictícios. No exercício, substituir o endereço por uma caixa interna autorizada. Verificar vazios e duplicados; não eliminar automaticamente contactos apenas porque partilham um endereço. A coluna DataTexto evita alterações de apresentação da data na demonstração. S10 no guia.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Âmbito: tarefas 0007, 0005/0032, 0011/0012 da Memória Descritiva, secção 5. Exemplos fictícios.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Preparar os dados Excel para impressão em série: https://support.microsoft.com/en-us/word/prepare-your-excel-data-source-for-a-word-mail-merge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captura Microsoft está em inglês: Mailings = Correio ou Correspondências; Start Mail Merge = Iniciar Impressão em Série; E-mail Messages = Mensagens de Correio Eletrónico. Captura e procedimento: S8; ligação e campos: S11. Não escolher etiquetas ou cartas.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Âmbito: tarefas 0007, 0005/0032, 0011/0012 da Memória Descritiva, secção 5. Exemplos fictícios.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Enviar mensagens com impressão em série no Word: https://support.microsoft.com/pt-PT/Word/use-mail-merge-in-word-to-send-bulk-email-messages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Inserir campos de impressão em série: https://support.microsoft.com/en-us/word/insert-mail-merge-fields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Imagem Microsoft: https://support.microsoft.com/en-us/word/media/word-o365-start-merge-email-message.png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Página de origem: https://support.microsoft.com/en-us/word/use-mail-merge-in-word-to-send-bulk-email-messages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Mostrar Inserir Campo de Impressão em Série. Digitar os sinais « » manualmente não cria um campo. O guia inclui o modelo completo com assinatura e ligação ao programa. A formatação e a concordância precisam de revisão humana.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Âmbito: tarefas 0007, 0005/0032, 0011/0012 da Memória Descritiva, secção 5. Exemplos fictícios.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Percorrer registos com as setas de pré-visualização. Pedir aos participantes que descubram um erro preparado numa cópia de treino, por exemplo Local vazio. Não concluir que uma pré-visualização correta garante a conta de envio ou a entrega. S8, S11 e S12.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Âmbito: tarefas 0007, 0005/0032, 0011/0012 da Memória Descritiva, secção 5. Exemplos fictícios.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Enviar mensagens com impressão em série no Word: https://support.microsoft.com/pt-PT/Word/use-mail-merge-in-word-to-send-bulk-email-messages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Inserir campos de impressão em série: https://support.microsoft.com/en-us/word/insert-mail-merge-fields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Editar e selecionar os destinatários: https://support.microsoft.com/en-us/word/mail-merge-edit-recipients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Captura Microsoft S8, Finish &amp; Merge / Send Email Messages. Antes de confirmar, mostrar que só existem os destinatários internos de teste. Depois verificar Itens Enviados e a mensagem recebida: conta, destinatário, campos, assinatura e ligação. Se algo falhar, corrigir e repetir só o teste.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Âmbito: tarefas 0007, 0005/0032, 0011/0012 da Memória Descritiva, secção 5. Exemplos fictícios.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Enviar mensagens com impressão em série no Word: https://support.microsoft.com/pt-PT/Word/use-mail-merge-in-word-to-send-bulk-email-messages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Imagem Microsoft: https://support.microsoft.com/en-us/word/media/o15-wd-mailings-finish-merge.jpg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Página de origem: https://support.microsoft.com/en-us/word/use-mail-merge-in-word-to-send-bulk-email-messages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Fonte Microsoft S8. Não extrapolar estas limitações para todos os produtos e todas as plataformas. Para assunto variável ou anexos individualizados é necessário um procedimento adicional. Não há relatório fiável de aberturas e cliques neste método.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Âmbito: tarefas 0007, 0005/0032, 0011/0012 da Memória Descritiva, secção 5. Exemplos fictícios.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Enviar mensagens com impressão em série no Word: https://support.microsoft.com/pt-PT/Word/use-mail-merge-in-word-to-send-bulk-email-messages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Se o tempo da sessão for limitado, executar como demonstração participada. Critério de sucesso: duas mensagens corretas, cada uma na caixa prevista, da conta confirmada. Não usar a lista real de contactos. Modelo e instruções no guia 11–16.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Âmbito: tarefas 0007, 0005/0032, 0011/0012 da Memória Descritiva, secção 5. Exemplos fictícios.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Usar as FAQ 17 e 18 do guia. Pedir ao participante que identifique a aplicação, o passo e a mensagem de erro. Confirmar se existe envio pendente antes de repetir. Não pedir palavras-passe nem dados desnecessários.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Âmbito: tarefas 0007, 0005/0032, 0011/0012 da Memória Descritiva, secção 5. Exemplos fictícios.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memória descritiva prevê acompanhamento da adesão e feedback ao fim de um mês para comunicação interna. Estas verificações são propostas de formação, sem metas quantitativas inventadas. Registar dificuldades e responsáveis pelas melhorias.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Âmbito: tarefas 0007, 0005/0032, 0011/0012 da Memória Descritiva, secção 5. Exemplos fictícios.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Reservar os minutos finais para dúvidas. Pedir a cada participante que escolha uma rotina e uma situação real em que a vai aplicar. Todas as fontes técnicas e os créditos das imagens constam do guia e das notas dos diapositivos.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Âmbito: tarefas 0007, 0005/0032, 0011/0012 da Memória Descritiva, secção 5. Exemplos fictícios.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c6c7982a5c4bf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36e583b36b44c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d3b3f9af88482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32268bb83d42f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5b3d27f14648d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212bf4c30c411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d5c93a99284f2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49700c7bd7460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4bd04ac6374906" /><Relationship Type="http://schemas.openxmlformats.org/officeDocument/2006/relationships/image" Target="/ppt/media/image.png" Id="R91497c9ea480412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92c721abba4035" /><Relationship Type="http://schemas.openxmlformats.org/officeDocument/2006/relationships/image" Target="/ppt/media/image2.png" Id="Rca67fdb198fb4ba1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91497c9ea480412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ca67fdb198fb4ba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dd88b0d9874e78" /><Relationship Type="http://schemas.openxmlformats.org/officeDocument/2006/relationships/slideLayout" Target="/ppt/slideLayouts/slideLayout1.xml" Id="Rad5206aea1cd49a7" /><Relationship Type="http://schemas.openxmlformats.org/officeDocument/2006/relationships/slideLayout" Target="/ppt/slideLayouts/slideLayout2.xml" Id="R768c6baacdbe4c6d" /><Relationship Type="http://schemas.openxmlformats.org/officeDocument/2006/relationships/slideLayout" Target="/ppt/slideLayouts/slideLayout3.xml" Id="Rf17e10b45cc746db" /><Relationship Type="http://schemas.openxmlformats.org/officeDocument/2006/relationships/slideLayout" Target="/ppt/slideLayouts/slideLayout4.xml" Id="R4d8a89a9cb3142bb" /><Relationship Type="http://schemas.openxmlformats.org/officeDocument/2006/relationships/slideLayout" Target="/ppt/slideLayouts/slideLayout5.xml" Id="Rdcfcd2e1326c416e" /><Relationship Type="http://schemas.openxmlformats.org/officeDocument/2006/relationships/slideLayout" Target="/ppt/slideLayouts/slideLayout6.xml" Id="Rf26ea8e086d24f77" /><Relationship Type="http://schemas.openxmlformats.org/officeDocument/2006/relationships/slideLayout" Target="/ppt/slideLayouts/slideLayout7.xml" Id="R624b1a6586d2405e" /><Relationship Type="http://schemas.openxmlformats.org/officeDocument/2006/relationships/slideLayout" Target="/ppt/slideLayouts/slideLayout8.xml" Id="Rd665e644680e4d9c" /><Relationship Type="http://schemas.openxmlformats.org/officeDocument/2006/relationships/slideLayout" Target="/ppt/slideLayouts/slideLayout9.xml" Id="R5376ccb5af5f4ee1" /><Relationship Type="http://schemas.openxmlformats.org/officeDocument/2006/relationships/slideLayout" Target="/ppt/slideLayouts/slideLayout10.xml" Id="R662f599b799a4d7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5206aea1cd49a7"/>
    <p:sldLayoutId xmlns:r="http://schemas.openxmlformats.org/officeDocument/2006/relationships" id="2147483650" r:id="R768c6baacdbe4c6d"/>
    <p:sldLayoutId xmlns:r="http://schemas.openxmlformats.org/officeDocument/2006/relationships" id="2147483651" r:id="Rf17e10b45cc746db"/>
    <p:sldLayoutId xmlns:r="http://schemas.openxmlformats.org/officeDocument/2006/relationships" id="2147483652" r:id="R4d8a89a9cb3142bb"/>
    <p:sldLayoutId xmlns:r="http://schemas.openxmlformats.org/officeDocument/2006/relationships" id="2147483653" r:id="Rdcfcd2e1326c416e"/>
    <p:sldLayoutId xmlns:r="http://schemas.openxmlformats.org/officeDocument/2006/relationships" id="2147483654" r:id="Rf26ea8e086d24f77"/>
    <p:sldLayoutId xmlns:r="http://schemas.openxmlformats.org/officeDocument/2006/relationships" id="2147483655" r:id="R624b1a6586d2405e"/>
    <p:sldLayoutId xmlns:r="http://schemas.openxmlformats.org/officeDocument/2006/relationships" id="2147483656" r:id="Rd665e644680e4d9c"/>
    <p:sldLayoutId xmlns:r="http://schemas.openxmlformats.org/officeDocument/2006/relationships" id="2147483657" r:id="R5376ccb5af5f4ee1"/>
    <p:sldLayoutId xmlns:r="http://schemas.openxmlformats.org/officeDocument/2006/relationships" id="2147483658" r:id="R662f599b799a4d70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2F4F7"/>
      </a:lt2>
      <a:accent1>
        <a:srgbClr val="004986"/>
      </a:accent1>
      <a:accent2>
        <a:srgbClr val="0B3668"/>
      </a:accent2>
      <a:accent3>
        <a:srgbClr val="F2F4F7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280f98aa74302" /><Relationship Type="http://schemas.openxmlformats.org/officeDocument/2006/relationships/notesSlide" Target="/ppt/notesSlides/notesSlide1.xml" Id="Rc9f3e2f3c85248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0e6cac52554238" /><Relationship Type="http://schemas.openxmlformats.org/officeDocument/2006/relationships/notesSlide" Target="/ppt/notesSlides/notesSlide2.xml" Id="Rbe54cf2bb84c4d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1380a0ff5c42b2" /><Relationship Type="http://schemas.openxmlformats.org/officeDocument/2006/relationships/notesSlide" Target="/ppt/notesSlides/notesSlide3.xml" Id="R77bf838ba0024a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fa332d4cbf49ac" /><Relationship Type="http://schemas.openxmlformats.org/officeDocument/2006/relationships/notesSlide" Target="/ppt/notesSlides/notesSlide4.xml" Id="R1790a2488dc143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77a15c976649e4" /><Relationship Type="http://schemas.openxmlformats.org/officeDocument/2006/relationships/notesSlide" Target="/ppt/notesSlides/notesSlide5.xml" Id="Rae42163299c742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f9b0bfdace41fd" /><Relationship Type="http://schemas.openxmlformats.org/officeDocument/2006/relationships/image" Target="/ppt/media/image3.png" Id="R12442762b5c64229" /><Relationship Type="http://schemas.openxmlformats.org/officeDocument/2006/relationships/notesSlide" Target="/ppt/notesSlides/notesSlide6.xml" Id="R9c30c2b67e194a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adfbe662584cb8" /><Relationship Type="http://schemas.openxmlformats.org/officeDocument/2006/relationships/image" Target="/ppt/media/image4.png" Id="R02663106b356465d" /><Relationship Type="http://schemas.openxmlformats.org/officeDocument/2006/relationships/notesSlide" Target="/ppt/notesSlides/notesSlide7.xml" Id="Rbe760c201faf44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eab638bb6049fe" /><Relationship Type="http://schemas.openxmlformats.org/officeDocument/2006/relationships/image" Target="/ppt/media/image5.png" Id="R18a7a826378e43b6" /><Relationship Type="http://schemas.openxmlformats.org/officeDocument/2006/relationships/notesSlide" Target="/ppt/notesSlides/notesSlide8.xml" Id="Rbcd060ebe7c14c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a0d2ee6b2c425e" /><Relationship Type="http://schemas.openxmlformats.org/officeDocument/2006/relationships/notesSlide" Target="/ppt/notesSlides/notesSlide9.xml" Id="R7d98af74dff545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d7db214c314fbf" /><Relationship Type="http://schemas.openxmlformats.org/officeDocument/2006/relationships/image" Target="/ppt/media/image6.png" Id="Rfc845c3cc1c14ecd" /><Relationship Type="http://schemas.openxmlformats.org/officeDocument/2006/relationships/notesSlide" Target="/ppt/notesSlides/notesSlide10.xml" Id="R1162ac94eb2747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a2196040c04b53" /><Relationship Type="http://schemas.openxmlformats.org/officeDocument/2006/relationships/notesSlide" Target="/ppt/notesSlides/notesSlide11.xml" Id="R0e99ad938f94447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02ab000d984206" /><Relationship Type="http://schemas.openxmlformats.org/officeDocument/2006/relationships/notesSlide" Target="/ppt/notesSlides/notesSlide12.xml" Id="R26e05f699e9644f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7fdcb500c447f8" /><Relationship Type="http://schemas.openxmlformats.org/officeDocument/2006/relationships/notesSlide" Target="/ppt/notesSlides/notesSlide13.xml" Id="R04e984f876b64c3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b08c268fdf4215" /><Relationship Type="http://schemas.openxmlformats.org/officeDocument/2006/relationships/notesSlide" Target="/ppt/notesSlides/notesSlide14.xml" Id="R9f6396fc2dc54fd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b6146c5abd4695" /><Relationship Type="http://schemas.openxmlformats.org/officeDocument/2006/relationships/notesSlide" Target="/ppt/notesSlides/notesSlide15.xml" Id="Rbe53fa25cdbd458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00cc95558f4858" /><Relationship Type="http://schemas.openxmlformats.org/officeDocument/2006/relationships/image" Target="/ppt/media/image7.png" Id="R8b01098ccf714c7c" /><Relationship Type="http://schemas.openxmlformats.org/officeDocument/2006/relationships/notesSlide" Target="/ppt/notesSlides/notesSlide16.xml" Id="R6e771f21139843a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14413c935143e4" /><Relationship Type="http://schemas.openxmlformats.org/officeDocument/2006/relationships/notesSlide" Target="/ppt/notesSlides/notesSlide17.xml" Id="Rda54ad7aa57d44d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779f02a1f247fa" /><Relationship Type="http://schemas.openxmlformats.org/officeDocument/2006/relationships/notesSlide" Target="/ppt/notesSlides/notesSlide18.xml" Id="R050c3a405b64490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a35ca49269411b" /><Relationship Type="http://schemas.openxmlformats.org/officeDocument/2006/relationships/image" Target="/ppt/media/image.jpeg" Id="R26c69d40828a4be1" /><Relationship Type="http://schemas.openxmlformats.org/officeDocument/2006/relationships/notesSlide" Target="/ppt/notesSlides/notesSlide19.xml" Id="R29d34a5b6f80437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1532dd36bf48c8" /><Relationship Type="http://schemas.openxmlformats.org/officeDocument/2006/relationships/notesSlide" Target="/ppt/notesSlides/notesSlide20.xml" Id="R0eb0cc0f833d42a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c15fd231114b04" /><Relationship Type="http://schemas.openxmlformats.org/officeDocument/2006/relationships/notesSlide" Target="/ppt/notesSlides/notesSlide21.xml" Id="R7af11ee58b164eb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1fcb019e274d1e" /><Relationship Type="http://schemas.openxmlformats.org/officeDocument/2006/relationships/notesSlide" Target="/ppt/notesSlides/notesSlide22.xml" Id="R098f10813f204ba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5351d77a374568" /><Relationship Type="http://schemas.openxmlformats.org/officeDocument/2006/relationships/notesSlide" Target="/ppt/notesSlides/notesSlide23.xml" Id="R640e09178373442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07169416940e9" /><Relationship Type="http://schemas.openxmlformats.org/officeDocument/2006/relationships/notesSlide" Target="/ppt/notesSlides/notesSlide24.xml" Id="Rfff07b2278f44c35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4986"/>
            </a:gs>
            <a:gs pos="100000">
              <a:srgbClr val="1F2044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00050" y="2143125"/>
            <a:ext cx="11049000" cy="190500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Comunicação e</a:t>
            </a:r>
          </a:p>
          <a:p xmlns:a="http://schemas.openxmlformats.org/drawingml/2006/main">
            <a:pPr>
              <a:defRPr sz="4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colaboração na AIP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00050" y="5286375"/>
            <a:ext cx="5429250" cy="76200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Teams, Planner e Outlook</a:t>
            </a:r>
          </a:p>
        </p:txBody>
      </p:sp>
      <p:sp>
        <p:nvSpPr>
          <p:cNvPr id="2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86375"/>
            <a:ext cx="54292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Excel e Word para envios personalizados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9125"/>
            <a:ext cx="3238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800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Setembro de 2026</a:t>
            </a:r>
          </a:p>
        </p:txBody>
      </p:sp>
      <p:sp>
        <p:nvSpPr>
          <p:cNvPr id="7" name="Subtitle 4">
            <a:extLst xmlns:a="http://schemas.openxmlformats.org/drawingml/2006/main"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6667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AIP  Formação prática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13FBB211-8426-4DE4-ABDE-51418D3E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7" y="374574"/>
            <a:ext cx="1142292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0D5D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9869472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9F8EE3-B14F-4A3E-BA85-0D545C9431F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0050" y="2428875"/>
            <a:ext cx="53340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Quem precisa de saber?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Onde fica o programa?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Quem confirma a sala?</a:t>
            </a:r>
            <a:endParaRPr sz="140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9857A98-A229-4FDE-B9CE-9A56762C0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Um evento para preparar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92F29C0-5282-B0D3-9A41-B81C786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55054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Como enviamos um convite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personalizado a cada empresa?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Caso fictício: Encontro com empresas, 15 de outubro, às 10h00.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0589A57F-4A5B-4B71-934D-783E90BE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Guia 01–03</a:t>
            </a:r>
          </a:p>
        </p:txBody>
      </p:sp>
    </p:spTree>
    <p:extLst>
      <p:ext uri="{BB962C8B-B14F-4D97-AF65-F5344CB8AC3E}">
        <p14:creationId xmlns:p14="http://schemas.microsoft.com/office/powerpoint/2010/main" val="19882909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283A32FD-E779-48A4-9D95-6222C4DC623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0050" y="2428875"/>
            <a:ext cx="53340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01  Escolher o meio de comunicação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02  Organizar um evento com a equipa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67B7604-6C17-4104-9385-8E71BD7CB6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O percurso da sessão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92F29C0-5282-B0D3-9A41-B81C786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55054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03  Preparar um convite personalizado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04  Testar e verificar o resultado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No final, cada participante consegue repetir um processo completo.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3D0B7492-D8D7-4272-A5FE-805D3B31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Guia 01</a:t>
            </a:r>
          </a:p>
        </p:txBody>
      </p:sp>
    </p:spTree>
    <p:extLst>
      <p:ext uri="{BB962C8B-B14F-4D97-AF65-F5344CB8AC3E}">
        <p14:creationId xmlns:p14="http://schemas.microsoft.com/office/powerpoint/2010/main" val="20474276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BB93B2B-8E4F-4711-B91F-349CD8E6FA8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0050" y="2428875"/>
            <a:ext cx="53340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CHAT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Esclarecimento breve entre pessoas.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CANAL</a:t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Contexto e decisões úteis à equipa.</a:t>
            </a:r>
            <a:endParaRPr sz="140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D77D33A5-8FA3-463C-BA63-D9F44E19D0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Chat, canal ou e-mail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92F29C0-5282-B0D3-9A41-B81C786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55054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E-MAIL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Comunicação formal ou externa.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PLANNER E CALENDÁRIO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Ações com prazo e reserva de tempo.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A escolha depende da audiência e da continuidade da informação.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D75C80C0-B59D-4CF4-ABF7-2D9706BF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Guia 02</a:t>
            </a:r>
          </a:p>
        </p:txBody>
      </p:sp>
    </p:spTree>
    <p:extLst>
      <p:ext uri="{BB962C8B-B14F-4D97-AF65-F5344CB8AC3E}">
        <p14:creationId xmlns:p14="http://schemas.microsoft.com/office/powerpoint/2010/main" val="1263403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D153CE57-7F95-4168-A2A6-79143E95791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0050" y="2428875"/>
            <a:ext cx="53340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“Bom dia, Ana. Podes rever o programa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até às 15h de amanhã?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A versão a rever está nesta ligação.</a:t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Preciso de confirmar os oradores.”</a:t>
            </a:r>
            <a:endParaRPr sz="140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5703F95-525D-446C-89D4-73C7B88926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Uma mensagem que permite agir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92F29C0-5282-B0D3-9A41-B81C786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55054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A resposta fecha o pedido: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“Revisto. Os nomes estão corrigidos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na versão partilhada.”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Tarefas 0011 e 0012. O pedido inclui contexto, ação e prazo.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F82C0DB9-F298-446E-B265-D8168347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Guia 04–05</a:t>
            </a:r>
          </a:p>
        </p:txBody>
      </p:sp>
    </p:spTree>
    <p:extLst>
      <p:ext uri="{BB962C8B-B14F-4D97-AF65-F5344CB8AC3E}">
        <p14:creationId xmlns:p14="http://schemas.microsoft.com/office/powerpoint/2010/main" val="20874785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E8EFC4F-C17F-4892-A165-ED219CD9E5F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0050" y="2428875"/>
            <a:ext cx="53340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1  Abrir Chat.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2  Escolher Nova mensagem.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3  Confirmar o colega.</a:t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4  Escrever o pedido e enviar.</a:t>
            </a:r>
            <a:endParaRPr sz="140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8B93010-1D8F-437D-A8F5-A3F2639F75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Nova conversa no Teams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A interface pode reunir conversas e canais na mesma lista.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pic>
        <p:nvPicPr>
          <p:cNvPr id="5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42762b5c64229"/>
          <a:stretch xmlns:a="http://schemas.openxmlformats.org/drawingml/2006/main"/>
        </p:blipFill>
        <p:spPr>
          <a:xfrm xmlns:a="http://schemas.openxmlformats.org/drawingml/2006/main">
            <a:off x="6353175" y="2956034"/>
            <a:ext cx="5381625" cy="2041306"/>
          </a:xfrm>
          <a:prstGeom xmlns:a="http://schemas.openxmlformats.org/drawingml/2006/main" prst="rect">
            <a:avLst/>
          </a:prstGeom>
        </p:spPr>
      </p:pic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7CF686E4-9FD6-47CA-B439-288E6CA0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857875"/>
            <a:ext cx="538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Captura Microsoft de referência. O aspeto pode variar.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A2A50624-EAE3-4703-BC91-23AE7255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Guia 04</a:t>
            </a:r>
          </a:p>
        </p:txBody>
      </p:sp>
    </p:spTree>
    <p:extLst>
      <p:ext uri="{BB962C8B-B14F-4D97-AF65-F5344CB8AC3E}">
        <p14:creationId xmlns:p14="http://schemas.microsoft.com/office/powerpoint/2010/main" val="10890164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514FD81-C91A-4C77-8211-D08EB166FC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Organização de um evento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Tarefa 0007. Cada aplicação mantém uma parte do processo.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pic>
        <p:nvPicPr>
          <p:cNvPr id="5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663106b356465d"/>
          <a:stretch xmlns:a="http://schemas.openxmlformats.org/drawingml/2006/main"/>
        </p:blipFill>
        <p:spPr>
          <a:xfrm xmlns:a="http://schemas.openxmlformats.org/drawingml/2006/main">
            <a:off x="2809875" y="2009775"/>
            <a:ext cx="6572250" cy="4381500"/>
          </a:xfrm>
          <a:prstGeom xmlns:a="http://schemas.openxmlformats.org/drawingml/2006/main" prst="rect">
            <a:avLst/>
          </a:prstGeom>
        </p:spPr>
      </p:pic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942733E7-B48B-4653-9974-E035D5E7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Guia 03</a:t>
            </a:r>
          </a:p>
        </p:txBody>
      </p:sp>
    </p:spTree>
    <p:extLst>
      <p:ext uri="{BB962C8B-B14F-4D97-AF65-F5344CB8AC3E}">
        <p14:creationId xmlns:p14="http://schemas.microsoft.com/office/powerpoint/2010/main" val="20949379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00782C6-8FA0-4F17-974C-8BA0AF798BA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0050" y="2428875"/>
            <a:ext cx="53340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1  Confirmar se o canal já existe.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2  Escolher Novo canal.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3  Definir equipa, nome e acesso.</a:t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4  Publicar as regras de utilização.</a:t>
            </a:r>
            <a:endParaRPr sz="140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B2F1A50A-A9BC-4D22-A37D-582A29D9FC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Canal Reuniões e eventos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Proposta para o piloto da Direção de Consultoria.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pic>
        <p:nvPicPr>
          <p:cNvPr id="5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7a826378e43b6"/>
          <a:stretch xmlns:a="http://schemas.openxmlformats.org/drawingml/2006/main"/>
        </p:blipFill>
        <p:spPr>
          <a:xfrm xmlns:a="http://schemas.openxmlformats.org/drawingml/2006/main">
            <a:off x="7391045" y="2190750"/>
            <a:ext cx="3305884" cy="3571875"/>
          </a:xfrm>
          <a:prstGeom xmlns:a="http://schemas.openxmlformats.org/drawingml/2006/main" prst="rect">
            <a:avLst/>
          </a:prstGeom>
        </p:spPr>
      </p:pic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5D5996BF-AB42-4D59-B00B-7ECBFF0C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857875"/>
            <a:ext cx="538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Captura Microsoft de referência. O aspeto pode variar.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C74D7273-A0D5-4750-8541-F48FFE1F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Guia 06</a:t>
            </a:r>
          </a:p>
        </p:txBody>
      </p:sp>
    </p:spTree>
    <p:extLst>
      <p:ext uri="{BB962C8B-B14F-4D97-AF65-F5344CB8AC3E}">
        <p14:creationId xmlns:p14="http://schemas.microsoft.com/office/powerpoint/2010/main" val="17690031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58D7028-7182-4460-93EE-DD1EAD97305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0050" y="2428875"/>
            <a:ext cx="53340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ENCONTRO COM EMPRESAS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15 de outubro, 10h00–11h00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Sala A, por confirmar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Responsável: Ana Silva</a:t>
            </a:r>
            <a:endParaRPr sz="140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400E1BA-3556-4DB2-90F5-9A78E98AE0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O evento fica registado no canal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92F29C0-5282-B0D3-9A41-B81C786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55054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AÇÃO PENDENTE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Bruno confirma a sala até 8 de outubro.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Programa e calendário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Ligações na publicação original.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A publicação começa no momento do planeamento.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87C52034-C890-47E5-9477-7EF43BAA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Guia 07</a:t>
            </a:r>
          </a:p>
        </p:txBody>
      </p:sp>
    </p:spTree>
    <p:extLst>
      <p:ext uri="{BB962C8B-B14F-4D97-AF65-F5344CB8AC3E}">
        <p14:creationId xmlns:p14="http://schemas.microsoft.com/office/powerpoint/2010/main" val="19092917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AF1B075-FCC0-4E04-8B08-5B5A0EB2C9D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0050" y="2428875"/>
            <a:ext cx="53340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1  Selecionar o calendário certo.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2  Definir data, hora e local.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3  Adicionar os participantes.</a:t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4  Confirmar a receção do convite.</a:t>
            </a:r>
            <a:endParaRPr sz="140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7F95C8E-35EB-4967-A802-4588E48C30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Calendário e convite de reunião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O calendário dá visibilidade à data. O convite solicita a participação.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pic>
        <p:nvPicPr>
          <p:cNvPr id="5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845c3cc1c14ecd"/>
          <a:stretch xmlns:a="http://schemas.openxmlformats.org/drawingml/2006/main"/>
        </p:blipFill>
        <p:spPr>
          <a:xfrm xmlns:a="http://schemas.openxmlformats.org/drawingml/2006/main">
            <a:off x="6353175" y="2881027"/>
            <a:ext cx="5381625" cy="2191320"/>
          </a:xfrm>
          <a:prstGeom xmlns:a="http://schemas.openxmlformats.org/drawingml/2006/main" prst="rect">
            <a:avLst/>
          </a:prstGeom>
        </p:spPr>
      </p:pic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7321E201-5E35-4172-B3C0-FF61ACAA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857875"/>
            <a:ext cx="538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Captura Microsoft de referência. O aspeto pode variar.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6C759D0D-F3EB-4555-92BE-A278DFF8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Guia 08</a:t>
            </a:r>
          </a:p>
        </p:txBody>
      </p:sp>
    </p:spTree>
    <p:extLst>
      <p:ext uri="{BB962C8B-B14F-4D97-AF65-F5344CB8AC3E}">
        <p14:creationId xmlns:p14="http://schemas.microsoft.com/office/powerpoint/2010/main" val="410309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0564909-A594-42D3-97BD-E6F9D123895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0050" y="2428875"/>
            <a:ext cx="53340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VALIDAR O PROGRAMA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Responsável: Ana Silva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Prazo: 9 de outubro de 2026</a:t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Ligação: programa de trabalho</a:t>
            </a:r>
            <a:endParaRPr sz="140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317B0A5-455E-4E5B-AFE4-EF7C7E1354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Uma ação com responsável e prazo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92F29C0-5282-B0D3-9A41-B81C786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55054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LISTA DE VERIFICAÇÃO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Confirmar os oradores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Rever os horários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Publicar a versão validada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No Planner, a tarefa descreve um resultado que pode ser confirmado.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0EAD30B8-700D-4940-BB3A-81E93E11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Guia 09</a:t>
            </a:r>
          </a:p>
        </p:txBody>
      </p:sp>
    </p:spTree>
    <p:extLst>
      <p:ext uri="{BB962C8B-B14F-4D97-AF65-F5344CB8AC3E}">
        <p14:creationId xmlns:p14="http://schemas.microsoft.com/office/powerpoint/2010/main" val="16354816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E607639-5EAF-4999-A08A-087FDB33019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0050" y="2428875"/>
            <a:ext cx="53340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Publicação no canal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com objetivo, data e responsável.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Evento no calendário</a:t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com convite ao colega.</a:t>
            </a:r>
            <a:endParaRPr sz="140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D8AC625-D55E-429B-87E7-3C4047C1FA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Exercício em pares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92F29C0-5282-B0D3-9A41-B81C786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55054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Tarefa no Planner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com responsável e prazo.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No fim, a sala muda para B.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Que registos precisam de atualização?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10 minutos para organizar o Encontro com empresas num espaço de treino.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2B9D01E0-1F61-48AB-BCAA-20F42C74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Guia 10</a:t>
            </a:r>
          </a:p>
        </p:txBody>
      </p:sp>
    </p:spTree>
    <p:extLst>
      <p:ext uri="{BB962C8B-B14F-4D97-AF65-F5344CB8AC3E}">
        <p14:creationId xmlns:p14="http://schemas.microsoft.com/office/powerpoint/2010/main" val="8492415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AF13ED0-0ADA-43F5-9EFF-24FE3E75E27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0050" y="2428875"/>
            <a:ext cx="53340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EXCEL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Os dados que mudam por destinatário.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WORD</a:t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A mensagem comum e os campos.</a:t>
            </a:r>
            <a:endParaRPr sz="140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A9D8A05E-679D-425B-8EC4-5898033A6F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Convites personalizados em série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92F29C0-5282-B0D3-9A41-B81C786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55054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OUTLOOK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O envio das mensagens individuais.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O teste confirma a personalização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e a conta remetente.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Tarefas 0005 e 0032. Uma lista alimenta um modelo reutilizável.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0BBEAAE-848A-45E0-AE37-DC86473A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Guia 11</a:t>
            </a:r>
          </a:p>
        </p:txBody>
      </p:sp>
    </p:spTree>
    <p:extLst>
      <p:ext uri="{BB962C8B-B14F-4D97-AF65-F5344CB8AC3E}">
        <p14:creationId xmlns:p14="http://schemas.microsoft.com/office/powerpoint/2010/main" val="8553968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76C51AC-EE68-42D9-8A95-9AAC35B2997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0050" y="2428875"/>
            <a:ext cx="53340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Conta profissional configurada.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Lista de teste separada.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Duas ou três caixas internas autorizadas.</a:t>
            </a:r>
            <a:endParaRPr sz="140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C1CAD9E7-C347-4E49-AD3F-40EABBE780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Antes da demonstração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92F29C0-5282-B0D3-9A41-B81C786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55054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O novo Outlook tem suporte parcial.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A versão e a integração devem ser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confirmadas antes de um envio real.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O percurso usa Word e Excel para computador e Outlook clássico em Windows.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DFC33FCB-4E6A-47D4-9266-2CCE91A5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Guia 11</a:t>
            </a:r>
          </a:p>
        </p:txBody>
      </p:sp>
    </p:spTree>
    <p:extLst>
      <p:ext uri="{BB962C8B-B14F-4D97-AF65-F5344CB8AC3E}">
        <p14:creationId xmlns:p14="http://schemas.microsoft.com/office/powerpoint/2010/main" val="18726230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9B62E6C-40C2-44DE-AC14-3CB5B11DF56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0050" y="2428875"/>
            <a:ext cx="53340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Email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ana.silva@example.com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Nome e Empresa</a:t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Ana Silva · Empresa Exemplo</a:t>
            </a:r>
            <a:endParaRPr sz="140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CA887C4A-2EB6-4D34-8FDF-52F15AEEDF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A lista começa no Excel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92F29C0-5282-B0D3-9A41-B81C786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55054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Saudacao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Cara Ana Silva,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DataTexto e HoraTexto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15 de outubro de 2026 · 10h00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Uma linha por destinatário. Cabeçalhos simples na primeira linha.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C8BC2602-FA59-48C0-B225-8E0486EB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Guia 12</a:t>
            </a:r>
          </a:p>
        </p:txBody>
      </p:sp>
    </p:spTree>
    <p:extLst>
      <p:ext uri="{BB962C8B-B14F-4D97-AF65-F5344CB8AC3E}">
        <p14:creationId xmlns:p14="http://schemas.microsoft.com/office/powerpoint/2010/main" val="4521813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4E8B9EA-0770-4504-8C4D-0D60E75FDDA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0050" y="2428875"/>
            <a:ext cx="53340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1  Iniciar Impressão em Série.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2  Mensagens de Correio Eletrónico.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3  Selecionar Destinatários.</a:t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4  Escolher o Excel e a folha.</a:t>
            </a:r>
            <a:endParaRPr sz="140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44C2C2A-05A9-4E32-A5E0-091837759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O Word liga a lista à mensagem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Os campos inseridos pelo menu recebem os dados da linha selecionada.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pic>
        <p:nvPicPr>
          <p:cNvPr id="5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1098ccf714c7c"/>
          <a:stretch xmlns:a="http://schemas.openxmlformats.org/drawingml/2006/main"/>
        </p:blipFill>
        <p:spPr>
          <a:xfrm xmlns:a="http://schemas.openxmlformats.org/drawingml/2006/main">
            <a:off x="6595344" y="2190750"/>
            <a:ext cx="4897288" cy="3571875"/>
          </a:xfrm>
          <a:prstGeom xmlns:a="http://schemas.openxmlformats.org/drawingml/2006/main" prst="rect">
            <a:avLst/>
          </a:prstGeom>
        </p:spPr>
      </p:pic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BA1E9AC2-F64F-4F8F-AE4C-0C3C22C9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857875"/>
            <a:ext cx="538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Captura Microsoft em inglês. Tradução dos comandos no guia.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FD7AEAC0-8A23-4ACD-9D46-E4FBA0C9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Guia 13</a:t>
            </a:r>
          </a:p>
        </p:txBody>
      </p:sp>
    </p:spTree>
    <p:extLst>
      <p:ext uri="{BB962C8B-B14F-4D97-AF65-F5344CB8AC3E}">
        <p14:creationId xmlns:p14="http://schemas.microsoft.com/office/powerpoint/2010/main" val="73372767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21CA2D4-BCE0-403B-99C2-7C61CF37DE5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0050" y="2428875"/>
            <a:ext cx="53340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NO MODELO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«Saudacao»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Convidamos a «Empresa» a participar</a:t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no «Evento», no dia «DataTexto».</a:t>
            </a:r>
            <a:endParaRPr sz="140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945BFBC-0880-4003-9C06-856284204B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Campos e mensagem final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92F29C0-5282-B0D3-9A41-B81C786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55054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NA PRÉ-VISUALIZAÇÃO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Cara Ana Silva,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Convidamos a Empresa Exemplo 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participar no Encontro com empresas,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no dia 15 de outubro de 2026.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Os marcadores representam campos reais inseridos no Word.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A8874F4E-FBE9-46D2-B1D2-B46E5995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Guia 14</a:t>
            </a:r>
          </a:p>
        </p:txBody>
      </p:sp>
    </p:spTree>
    <p:extLst>
      <p:ext uri="{BB962C8B-B14F-4D97-AF65-F5344CB8AC3E}">
        <p14:creationId xmlns:p14="http://schemas.microsoft.com/office/powerpoint/2010/main" val="182794475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46CF7F3-9681-4AC8-8607-54D91133212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0050" y="2428875"/>
            <a:ext cx="53340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Nomes e empresas compridos.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Campos vazios.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Datas, acentos e pontuação.</a:t>
            </a:r>
            <a:endParaRPr sz="140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CDD59BEC-0823-4E04-9A7B-ABE32220EB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Pré-visualização de vários registos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92F29C0-5282-B0D3-9A41-B81C786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55054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A ligação abre para o destinatário?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A assinatura está no modelo?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A mensagem corresponde à linha certa?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A primeira mensagem não representa todas as combinações da lista.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F94AE60D-147A-4A22-AC36-786F713F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Guia 15</a:t>
            </a:r>
          </a:p>
        </p:txBody>
      </p:sp>
    </p:spTree>
    <p:extLst>
      <p:ext uri="{BB962C8B-B14F-4D97-AF65-F5344CB8AC3E}">
        <p14:creationId xmlns:p14="http://schemas.microsoft.com/office/powerpoint/2010/main" val="125725932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68FE2BAC-111F-44D3-B48C-7FC1BF3F5BB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0050" y="2428875"/>
            <a:ext cx="53340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Para: coluna Email.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Assunto: comum ao lote.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Formato: HTML.</a:t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Registos: apenas a lista de teste.</a:t>
            </a:r>
            <a:endParaRPr sz="140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C379B3CE-C5FC-4F30-B121-64F9254F03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O teste vem antes do lote real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O botão OK do diálogo de conclusão inicia o envio.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pic>
        <p:nvPicPr>
          <p:cNvPr id="5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c69d40828a4be1"/>
          <a:stretch xmlns:a="http://schemas.openxmlformats.org/drawingml/2006/main"/>
        </p:blipFill>
        <p:spPr>
          <a:xfrm xmlns:a="http://schemas.openxmlformats.org/drawingml/2006/main">
            <a:off x="6353175" y="2461553"/>
            <a:ext cx="5381625" cy="3030269"/>
          </a:xfrm>
          <a:prstGeom xmlns:a="http://schemas.openxmlformats.org/drawingml/2006/main" prst="rect">
            <a:avLst/>
          </a:prstGeom>
        </p:spPr>
      </p:pic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93E747CE-72B9-499A-87AB-02C292B3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857875"/>
            <a:ext cx="538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Captura Microsoft em inglês. Tradução dos comandos no guia.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71222CEE-5550-421F-A39D-5D83E8F6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Guia 15</a:t>
            </a:r>
          </a:p>
        </p:txBody>
      </p:sp>
    </p:spTree>
    <p:extLst>
      <p:ext uri="{BB962C8B-B14F-4D97-AF65-F5344CB8AC3E}">
        <p14:creationId xmlns:p14="http://schemas.microsoft.com/office/powerpoint/2010/main" val="47770277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3AA39CF-3FDB-4D26-BA8E-52ABE44447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0050" y="2428875"/>
            <a:ext cx="53340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Uma mensagem por destinatário.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Assunto comum.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Sem anexos no percurso básico</a:t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de impressão em série para Windows.</a:t>
            </a:r>
            <a:endParaRPr sz="140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21ED96BE-1638-4B2F-B065-8793145910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Limites do procedimento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92F29C0-5282-B0D3-9A41-B81C786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55054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Sem CC ou BCC neste percurso.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Ligações com permissões verificadas.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Itens Enviados não prova leitura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nem entrega final.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Estas condições ajudam a escolher o processo adequado.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83B0F234-628A-4A8A-9CD5-85416029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Guia 16 e 18</a:t>
            </a:r>
          </a:p>
        </p:txBody>
      </p:sp>
    </p:spTree>
    <p:extLst>
      <p:ext uri="{BB962C8B-B14F-4D97-AF65-F5344CB8AC3E}">
        <p14:creationId xmlns:p14="http://schemas.microsoft.com/office/powerpoint/2010/main" val="120140649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8643B83-DCD5-4F6D-881A-45F1795522E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0050" y="2428875"/>
            <a:ext cx="53340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Criar duas linhas de teste.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Inserir saudação e empresa.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Pré-visualizar os dois registos.</a:t>
            </a:r>
            <a:endParaRPr sz="140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EC4B19-FE80-4D7D-9247-1DA2A34885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Exercício de personalização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92F29C0-5282-B0D3-9A41-B81C786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55054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Confirmar destinatários internos.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Enviar uma vez.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Comparar as mensagens recebidas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com as linhas do Excel.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7 minutos. O desafio termina com uma mensagem de teste recebida.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F8064115-DDEA-4C7F-B71E-85700267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Guia 11–16</a:t>
            </a:r>
          </a:p>
        </p:txBody>
      </p:sp>
    </p:spTree>
    <p:extLst>
      <p:ext uri="{BB962C8B-B14F-4D97-AF65-F5344CB8AC3E}">
        <p14:creationId xmlns:p14="http://schemas.microsoft.com/office/powerpoint/2010/main" val="88672150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B494C86F-E744-438B-BAE4-F3B98BDE951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0050" y="2428875"/>
            <a:ext cx="53340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TEAMS E PLANNER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Conta, acesso e permissões.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CALENDÁRIO</a:t>
            </a:r>
            <a:endParaRPr sz="1400"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Partilha e receção do convite.</a:t>
            </a:r>
            <a:endParaRPr sz="140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B06DFB5-ACD1-4693-9ABD-B5F667296F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Quando algo não funciona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92F29C0-5282-B0D3-9A41-B81C786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55054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WORD E EXCEL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Folha, cabeçalhos e campos.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OUTLOOK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Versão, conta e Caixa de Saída.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O guia permite retomar o passo em que surgiu a dúvida.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15455A96-CA72-4AEE-A7DC-1930036D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Guia 17–18</a:t>
            </a:r>
          </a:p>
        </p:txBody>
      </p:sp>
    </p:spTree>
    <p:extLst>
      <p:ext uri="{BB962C8B-B14F-4D97-AF65-F5344CB8AC3E}">
        <p14:creationId xmlns:p14="http://schemas.microsoft.com/office/powerpoint/2010/main" val="86316684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1F9DE98-0652-4C03-AD67-3DDE6B93224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00050" y="2428875"/>
            <a:ext cx="53340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Os eventos aparecem no canal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quando começam a ser planeados.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As ações têm responsável e prazo.</a:t>
            </a:r>
            <a:endParaRPr sz="140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C38E35FA-CC74-4F60-8221-1880C30AE8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429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O primeiro mês de utilização</a:t>
            </a:r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92F29C0-5282-B0D3-9A41-B81C786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550545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A equipa repete o envio de teste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sem depender da demonstração.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250" b="0">
                <a:solidFill>
                  <a:srgbClr val="1F20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F2044"/>
                </a:solidFill>
                <a:latin typeface="Arial"/>
                <a:ea typeface="Arial"/>
                <a:cs typeface="Arial"/>
              </a:rPr>
              <a:t>As dúvidas ajudam a atualizar o guia.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21D033-8C76-8D5C-A558-DE01C3FB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714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950" b="0">
                <a:solidFill>
                  <a:srgbClr val="00498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4986"/>
                </a:solidFill>
                <a:latin typeface="Arial"/>
                <a:ea typeface="Arial"/>
                <a:cs typeface="Arial"/>
              </a:rPr>
              <a:t>Proposta de acompanhamento para consolidar as novas rotinas.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52B884-F5EA-F39C-367B-9C19F62CC4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t/>
            </a:fld>
            <a:endParaRPr sz="1100"/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033E08A8-6C7E-4BCF-A3C2-930CF4D7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912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5A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A6A"/>
                </a:solidFill>
                <a:latin typeface="Arial"/>
                <a:ea typeface="Arial"/>
                <a:cs typeface="Arial"/>
              </a:rPr>
              <a:t>Guia 19</a:t>
            </a:r>
          </a:p>
        </p:txBody>
      </p:sp>
    </p:spTree>
    <p:extLst>
      <p:ext uri="{BB962C8B-B14F-4D97-AF65-F5344CB8AC3E}">
        <p14:creationId xmlns:p14="http://schemas.microsoft.com/office/powerpoint/2010/main" val="1407527847"/>
      </p:ext>
    </p:extLst>
  </p:cSld>
</p:sld>
</file>

<file path=ppt/slides/slide2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4986"/>
            </a:gs>
            <a:gs pos="100000">
              <a:srgbClr val="1F2044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1F3E4-6436-4334-8CAD-E3935471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1104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Dúvidas e prática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2C6D2-C518-4114-A1F9-69CAF80A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90875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Qual destes procedimentos vai utilizar primeiro?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CED07-90F8-4905-881C-F7A3B0CD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9048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O guia inclui os passos completos,</a:t>
            </a:r>
          </a:p>
          <a:p xmlns:a="http://schemas.openxmlformats.org/drawingml/2006/main">
            <a:pPr>
              <a:defRPr sz="1950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modelos e perguntas frequentes.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B777A-F550-426A-848F-3E000F75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0D5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0D5DD"/>
                </a:solidFill>
                <a:latin typeface="Arial"/>
                <a:ea typeface="Arial"/>
                <a:cs typeface="Arial"/>
              </a:rPr>
              <a:t>AIP</a:t>
            </a:r>
          </a:p>
        </p:txBody>
      </p:sp>
    </p:spTree>
    <p:extLst>
      <p:ext uri="{BB962C8B-B14F-4D97-AF65-F5344CB8AC3E}">
        <p14:creationId xmlns:p14="http://schemas.microsoft.com/office/powerpoint/2010/main" val="320632849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2F4F7"/>
      </a:lt2>
      <a:accent1>
        <a:srgbClr val="004986"/>
      </a:accent1>
      <a:accent2>
        <a:srgbClr val="0B3668"/>
      </a:accent2>
      <a:accent3>
        <a:srgbClr val="F2F4F7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2026-09-07T18:33:50.8000000Z</dcterms:created>
  <dcterms:modified xsi:type="dcterms:W3CDTF">2026-09-07T18:33:50.8000000Z</dcterms:modified>
</coreProperties>
</file>